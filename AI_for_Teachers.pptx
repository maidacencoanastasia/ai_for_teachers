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5" r:id="rId3"/>
    <p:sldId id="276" r:id="rId4"/>
    <p:sldId id="257" r:id="rId5"/>
    <p:sldId id="258" r:id="rId6"/>
    <p:sldId id="267" r:id="rId7"/>
    <p:sldId id="266" r:id="rId8"/>
    <p:sldId id="259" r:id="rId9"/>
    <p:sldId id="260" r:id="rId10"/>
    <p:sldId id="274" r:id="rId11"/>
    <p:sldId id="275" r:id="rId12"/>
    <p:sldId id="261" r:id="rId13"/>
    <p:sldId id="268" r:id="rId14"/>
    <p:sldId id="269" r:id="rId15"/>
    <p:sldId id="270" r:id="rId16"/>
    <p:sldId id="271" r:id="rId17"/>
    <p:sldId id="273" r:id="rId18"/>
    <p:sldId id="272" r:id="rId19"/>
    <p:sldId id="262" r:id="rId20"/>
    <p:sldId id="263" r:id="rId21"/>
    <p:sldId id="26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6E5"/>
    <a:srgbClr val="FFFFFF"/>
    <a:srgbClr val="06B9D7"/>
    <a:srgbClr val="374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6515B3-8D7A-4738-B92F-847C3CC5CA94}" type="doc">
      <dgm:prSet loTypeId="urn:microsoft.com/office/officeart/2005/8/layout/hList1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82FC2EB-5166-4607-BB5B-742442087171}">
      <dgm:prSet/>
      <dgm:spPr/>
      <dgm:t>
        <a:bodyPr/>
        <a:lstStyle/>
        <a:p>
          <a:r>
            <a:rPr lang="en-US" dirty="0" err="1"/>
            <a:t>Dezvoltarea</a:t>
          </a:r>
          <a:r>
            <a:rPr lang="en-US" dirty="0"/>
            <a:t> </a:t>
          </a:r>
          <a:r>
            <a:rPr lang="en-US" dirty="0" err="1"/>
            <a:t>Gândirii</a:t>
          </a:r>
          <a:endParaRPr lang="ru-RU" dirty="0"/>
        </a:p>
      </dgm:t>
    </dgm:pt>
    <dgm:pt modelId="{D513254B-16C4-412E-AA85-6763E4B280E2}" type="parTrans" cxnId="{1BC72FFB-2A59-4CF4-91BD-4E6A14CDFF0D}">
      <dgm:prSet/>
      <dgm:spPr/>
      <dgm:t>
        <a:bodyPr/>
        <a:lstStyle/>
        <a:p>
          <a:endParaRPr lang="ru-RU"/>
        </a:p>
      </dgm:t>
    </dgm:pt>
    <dgm:pt modelId="{4EC9269D-C82D-4822-B7BD-DC91918A4CF3}" type="sibTrans" cxnId="{1BC72FFB-2A59-4CF4-91BD-4E6A14CDFF0D}">
      <dgm:prSet/>
      <dgm:spPr/>
      <dgm:t>
        <a:bodyPr/>
        <a:lstStyle/>
        <a:p>
          <a:endParaRPr lang="ru-RU"/>
        </a:p>
      </dgm:t>
    </dgm:pt>
    <dgm:pt modelId="{E094C3CD-A3E2-48B8-8502-615E0CDFF061}">
      <dgm:prSet/>
      <dgm:spPr/>
      <dgm:t>
        <a:bodyPr/>
        <a:lstStyle/>
        <a:p>
          <a:r>
            <a:rPr lang="en-US" dirty="0" err="1"/>
            <a:t>Stimularea</a:t>
          </a:r>
          <a:r>
            <a:rPr lang="en-US" dirty="0"/>
            <a:t> </a:t>
          </a:r>
          <a:r>
            <a:rPr lang="en-US" dirty="0" err="1"/>
            <a:t>gândirii</a:t>
          </a:r>
          <a:r>
            <a:rPr lang="en-US" dirty="0"/>
            <a:t> </a:t>
          </a:r>
          <a:r>
            <a:rPr lang="en-US" dirty="0" err="1"/>
            <a:t>critice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a </a:t>
          </a:r>
          <a:r>
            <a:rPr lang="en-US" dirty="0" err="1"/>
            <a:t>capacităţii</a:t>
          </a:r>
          <a:r>
            <a:rPr lang="en-US" dirty="0"/>
            <a:t> de </a:t>
          </a:r>
          <a:r>
            <a:rPr lang="en-US" dirty="0" err="1"/>
            <a:t>analiză</a:t>
          </a:r>
          <a:r>
            <a:rPr lang="en-US" dirty="0"/>
            <a:t> a </a:t>
          </a:r>
          <a:r>
            <a:rPr lang="en-US" dirty="0" err="1"/>
            <a:t>studentului</a:t>
          </a:r>
          <a:r>
            <a:rPr lang="en-US" dirty="0"/>
            <a:t>, </a:t>
          </a:r>
          <a:r>
            <a:rPr lang="en-US" dirty="0" err="1"/>
            <a:t>dincolo</a:t>
          </a:r>
          <a:r>
            <a:rPr lang="en-US" dirty="0"/>
            <a:t> de </a:t>
          </a:r>
          <a:r>
            <a:rPr lang="en-US" dirty="0" err="1"/>
            <a:t>memorare</a:t>
          </a:r>
          <a:r>
            <a:rPr lang="en-US" dirty="0"/>
            <a:t>.</a:t>
          </a:r>
          <a:endParaRPr lang="ru-RU" dirty="0"/>
        </a:p>
      </dgm:t>
    </dgm:pt>
    <dgm:pt modelId="{5E6BBD8B-2D0C-4491-B619-F5F5029AD582}" type="parTrans" cxnId="{D5338B20-E760-47D3-AF60-974A345B8579}">
      <dgm:prSet/>
      <dgm:spPr/>
      <dgm:t>
        <a:bodyPr/>
        <a:lstStyle/>
        <a:p>
          <a:endParaRPr lang="ru-RU"/>
        </a:p>
      </dgm:t>
    </dgm:pt>
    <dgm:pt modelId="{688DF983-4B9F-42BC-81F3-36834C6DE7E6}" type="sibTrans" cxnId="{D5338B20-E760-47D3-AF60-974A345B8579}">
      <dgm:prSet/>
      <dgm:spPr/>
      <dgm:t>
        <a:bodyPr/>
        <a:lstStyle/>
        <a:p>
          <a:endParaRPr lang="ru-RU"/>
        </a:p>
      </dgm:t>
    </dgm:pt>
    <dgm:pt modelId="{B5D623AB-4C0F-4295-AD2D-58C2FA410AA5}">
      <dgm:prSet/>
      <dgm:spPr/>
      <dgm:t>
        <a:bodyPr/>
        <a:lstStyle/>
        <a:p>
          <a:r>
            <a:rPr lang="en-US"/>
            <a:t>Transmiterea Cunoştinţelor</a:t>
          </a:r>
          <a:endParaRPr lang="ru-RU"/>
        </a:p>
      </dgm:t>
    </dgm:pt>
    <dgm:pt modelId="{1FD8F454-51EB-487B-8DA9-53D0C98DB409}" type="parTrans" cxnId="{8D8F31BE-C410-4DDF-AD2A-4D2247BDBE21}">
      <dgm:prSet/>
      <dgm:spPr/>
      <dgm:t>
        <a:bodyPr/>
        <a:lstStyle/>
        <a:p>
          <a:endParaRPr lang="ru-RU"/>
        </a:p>
      </dgm:t>
    </dgm:pt>
    <dgm:pt modelId="{8E9987B5-5D2A-4D8C-9A78-A0DDB0737CBC}" type="sibTrans" cxnId="{8D8F31BE-C410-4DDF-AD2A-4D2247BDBE21}">
      <dgm:prSet/>
      <dgm:spPr/>
      <dgm:t>
        <a:bodyPr/>
        <a:lstStyle/>
        <a:p>
          <a:endParaRPr lang="ru-RU"/>
        </a:p>
      </dgm:t>
    </dgm:pt>
    <dgm:pt modelId="{08C5B679-D67F-4924-9130-ECBB204B832E}">
      <dgm:prSet/>
      <dgm:spPr/>
      <dgm:t>
        <a:bodyPr/>
        <a:lstStyle/>
        <a:p>
          <a:r>
            <a:rPr lang="en-US" dirty="0" err="1"/>
            <a:t>Oferirea</a:t>
          </a:r>
          <a:r>
            <a:rPr lang="en-US" dirty="0"/>
            <a:t> </a:t>
          </a:r>
          <a:r>
            <a:rPr lang="en-US" dirty="0" err="1"/>
            <a:t>unei</a:t>
          </a:r>
          <a:r>
            <a:rPr lang="en-US" dirty="0"/>
            <a:t> </a:t>
          </a:r>
          <a:r>
            <a:rPr lang="en-US" dirty="0" err="1"/>
            <a:t>baze</a:t>
          </a:r>
          <a:r>
            <a:rPr lang="en-US" dirty="0"/>
            <a:t> </a:t>
          </a:r>
          <a:r>
            <a:rPr lang="en-US" dirty="0" err="1"/>
            <a:t>solide</a:t>
          </a:r>
          <a:r>
            <a:rPr lang="en-US" dirty="0"/>
            <a:t> de </a:t>
          </a:r>
          <a:r>
            <a:rPr lang="en-US" dirty="0" err="1"/>
            <a:t>informații</a:t>
          </a:r>
          <a:r>
            <a:rPr lang="en-US" dirty="0"/>
            <a:t> </a:t>
          </a:r>
          <a:r>
            <a:rPr lang="en-US" dirty="0" err="1"/>
            <a:t>teoretice</a:t>
          </a:r>
          <a:r>
            <a:rPr lang="en-US" dirty="0"/>
            <a:t> </a:t>
          </a:r>
          <a:r>
            <a:rPr lang="en-US" dirty="0" err="1"/>
            <a:t>actualizate</a:t>
          </a:r>
          <a:r>
            <a:rPr lang="en-US" dirty="0"/>
            <a:t> </a:t>
          </a:r>
          <a:r>
            <a:rPr lang="en-US" dirty="0" err="1"/>
            <a:t>şi</a:t>
          </a:r>
          <a:r>
            <a:rPr lang="en-US" dirty="0"/>
            <a:t> </a:t>
          </a:r>
          <a:r>
            <a:rPr lang="en-US" dirty="0" err="1"/>
            <a:t>relevante</a:t>
          </a:r>
          <a:r>
            <a:rPr lang="en-US" dirty="0"/>
            <a:t> </a:t>
          </a:r>
          <a:r>
            <a:rPr lang="en-US" dirty="0" err="1"/>
            <a:t>pentru</a:t>
          </a:r>
          <a:r>
            <a:rPr lang="en-US" dirty="0"/>
            <a:t> </a:t>
          </a:r>
          <a:r>
            <a:rPr lang="en-US" dirty="0" err="1"/>
            <a:t>domeniu</a:t>
          </a:r>
          <a:r>
            <a:rPr lang="en-US" dirty="0"/>
            <a:t>.</a:t>
          </a:r>
          <a:endParaRPr lang="ru-RU" dirty="0"/>
        </a:p>
      </dgm:t>
    </dgm:pt>
    <dgm:pt modelId="{532DA95D-D679-4D42-94D6-B5D4C028D275}" type="parTrans" cxnId="{ADC91D96-F342-48E3-946A-365260AE32C0}">
      <dgm:prSet/>
      <dgm:spPr/>
      <dgm:t>
        <a:bodyPr/>
        <a:lstStyle/>
        <a:p>
          <a:endParaRPr lang="ru-RU"/>
        </a:p>
      </dgm:t>
    </dgm:pt>
    <dgm:pt modelId="{A855ED23-F7B4-490F-A1E7-40B1DBF8846F}" type="sibTrans" cxnId="{ADC91D96-F342-48E3-946A-365260AE32C0}">
      <dgm:prSet/>
      <dgm:spPr/>
      <dgm:t>
        <a:bodyPr/>
        <a:lstStyle/>
        <a:p>
          <a:endParaRPr lang="ru-RU"/>
        </a:p>
      </dgm:t>
    </dgm:pt>
    <dgm:pt modelId="{92EE40C2-6F41-4AFD-BD3B-49DF195F0B35}">
      <dgm:prSet/>
      <dgm:spPr/>
      <dgm:t>
        <a:bodyPr/>
        <a:lstStyle/>
        <a:p>
          <a:r>
            <a:rPr lang="en-US"/>
            <a:t>Verificarea Înțelegerii</a:t>
          </a:r>
          <a:endParaRPr lang="ru-RU"/>
        </a:p>
      </dgm:t>
    </dgm:pt>
    <dgm:pt modelId="{8159C2B2-9E0E-4770-8C91-B81654ED7B38}" type="parTrans" cxnId="{A24E2729-FE77-4061-8039-609ABFC3075B}">
      <dgm:prSet/>
      <dgm:spPr/>
      <dgm:t>
        <a:bodyPr/>
        <a:lstStyle/>
        <a:p>
          <a:endParaRPr lang="ru-RU"/>
        </a:p>
      </dgm:t>
    </dgm:pt>
    <dgm:pt modelId="{30E68D7A-6EBA-4995-AE75-01F665B5BD0C}" type="sibTrans" cxnId="{A24E2729-FE77-4061-8039-609ABFC3075B}">
      <dgm:prSet/>
      <dgm:spPr/>
      <dgm:t>
        <a:bodyPr/>
        <a:lstStyle/>
        <a:p>
          <a:endParaRPr lang="ru-RU"/>
        </a:p>
      </dgm:t>
    </dgm:pt>
    <dgm:pt modelId="{D3DD2D40-A65F-43E3-A836-428625EC1217}">
      <dgm:prSet/>
      <dgm:spPr/>
      <dgm:t>
        <a:bodyPr/>
        <a:lstStyle/>
        <a:p>
          <a:r>
            <a:rPr lang="en-US" dirty="0" err="1"/>
            <a:t>Evaluarea</a:t>
          </a:r>
          <a:r>
            <a:rPr lang="en-US" dirty="0"/>
            <a:t> </a:t>
          </a:r>
          <a:r>
            <a:rPr lang="en-US" dirty="0" err="1"/>
            <a:t>constantă</a:t>
          </a:r>
          <a:r>
            <a:rPr lang="en-US" dirty="0"/>
            <a:t> </a:t>
          </a:r>
          <a:r>
            <a:rPr lang="en-US" dirty="0" err="1"/>
            <a:t>pentru</a:t>
          </a:r>
          <a:r>
            <a:rPr lang="en-US" dirty="0"/>
            <a:t> a </a:t>
          </a:r>
          <a:r>
            <a:rPr lang="en-US" dirty="0" err="1"/>
            <a:t>confirma</a:t>
          </a:r>
          <a:r>
            <a:rPr lang="en-US" dirty="0"/>
            <a:t> </a:t>
          </a:r>
          <a:r>
            <a:rPr lang="en-US" dirty="0" err="1"/>
            <a:t>dacă</a:t>
          </a:r>
          <a:r>
            <a:rPr lang="en-US" dirty="0"/>
            <a:t> </a:t>
          </a:r>
          <a:r>
            <a:rPr lang="en-US" dirty="0" err="1"/>
            <a:t>studentul</a:t>
          </a:r>
          <a:r>
            <a:rPr lang="en-US" dirty="0"/>
            <a:t> a </a:t>
          </a:r>
          <a:r>
            <a:rPr lang="en-US" dirty="0" err="1"/>
            <a:t>asimilat</a:t>
          </a:r>
          <a:r>
            <a:rPr lang="en-US" dirty="0"/>
            <a:t> </a:t>
          </a:r>
          <a:r>
            <a:rPr lang="en-US" dirty="0" err="1"/>
            <a:t>corect</a:t>
          </a:r>
          <a:r>
            <a:rPr lang="en-US" dirty="0"/>
            <a:t> </a:t>
          </a:r>
          <a:r>
            <a:rPr lang="en-US" dirty="0" err="1"/>
            <a:t>conceptele</a:t>
          </a:r>
          <a:r>
            <a:rPr lang="en-US" dirty="0"/>
            <a:t> predate.</a:t>
          </a:r>
          <a:endParaRPr lang="ru-RU" dirty="0"/>
        </a:p>
      </dgm:t>
    </dgm:pt>
    <dgm:pt modelId="{7DA4A1EC-4682-4C80-9EC7-CD3A0F5EFF75}" type="parTrans" cxnId="{8152FB19-4B7F-4115-9685-4488F0529136}">
      <dgm:prSet/>
      <dgm:spPr/>
      <dgm:t>
        <a:bodyPr/>
        <a:lstStyle/>
        <a:p>
          <a:endParaRPr lang="ru-RU"/>
        </a:p>
      </dgm:t>
    </dgm:pt>
    <dgm:pt modelId="{44A3BC96-499D-4C13-9F7E-CA1A2CFD9BD5}" type="sibTrans" cxnId="{8152FB19-4B7F-4115-9685-4488F0529136}">
      <dgm:prSet/>
      <dgm:spPr/>
      <dgm:t>
        <a:bodyPr/>
        <a:lstStyle/>
        <a:p>
          <a:endParaRPr lang="ru-RU"/>
        </a:p>
      </dgm:t>
    </dgm:pt>
    <dgm:pt modelId="{75254165-E45B-4FE9-966B-78C5D8EC98E8}" type="pres">
      <dgm:prSet presAssocID="{D96515B3-8D7A-4738-B92F-847C3CC5CA94}" presName="Name0" presStyleCnt="0">
        <dgm:presLayoutVars>
          <dgm:dir/>
          <dgm:animLvl val="lvl"/>
          <dgm:resizeHandles val="exact"/>
        </dgm:presLayoutVars>
      </dgm:prSet>
      <dgm:spPr/>
    </dgm:pt>
    <dgm:pt modelId="{F529A01D-7B12-445C-8454-B0C3DDB2619E}" type="pres">
      <dgm:prSet presAssocID="{682FC2EB-5166-4607-BB5B-742442087171}" presName="composite" presStyleCnt="0"/>
      <dgm:spPr/>
    </dgm:pt>
    <dgm:pt modelId="{21A03375-0640-469D-A579-7A4D58EFF4F2}" type="pres">
      <dgm:prSet presAssocID="{682FC2EB-5166-4607-BB5B-74244208717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ADFC230-8B7A-44EA-AB22-357D4B90D92F}" type="pres">
      <dgm:prSet presAssocID="{682FC2EB-5166-4607-BB5B-742442087171}" presName="desTx" presStyleLbl="alignAccFollowNode1" presStyleIdx="0" presStyleCnt="3">
        <dgm:presLayoutVars>
          <dgm:bulletEnabled val="1"/>
        </dgm:presLayoutVars>
      </dgm:prSet>
      <dgm:spPr/>
    </dgm:pt>
    <dgm:pt modelId="{B1521C2B-0BBF-4EFA-B6D1-5C1A29983CCB}" type="pres">
      <dgm:prSet presAssocID="{4EC9269D-C82D-4822-B7BD-DC91918A4CF3}" presName="space" presStyleCnt="0"/>
      <dgm:spPr/>
    </dgm:pt>
    <dgm:pt modelId="{4538E566-10EB-4B0B-AD6E-9EA3BCD05F88}" type="pres">
      <dgm:prSet presAssocID="{B5D623AB-4C0F-4295-AD2D-58C2FA410AA5}" presName="composite" presStyleCnt="0"/>
      <dgm:spPr/>
    </dgm:pt>
    <dgm:pt modelId="{7CB16300-81E1-4208-BCE6-A4B1846375DE}" type="pres">
      <dgm:prSet presAssocID="{B5D623AB-4C0F-4295-AD2D-58C2FA410AA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F5B5BDA-BD57-410C-9510-40C8302F7CB5}" type="pres">
      <dgm:prSet presAssocID="{B5D623AB-4C0F-4295-AD2D-58C2FA410AA5}" presName="desTx" presStyleLbl="alignAccFollowNode1" presStyleIdx="1" presStyleCnt="3">
        <dgm:presLayoutVars>
          <dgm:bulletEnabled val="1"/>
        </dgm:presLayoutVars>
      </dgm:prSet>
      <dgm:spPr/>
    </dgm:pt>
    <dgm:pt modelId="{C15E746A-496D-4126-9C9E-F51FB321C720}" type="pres">
      <dgm:prSet presAssocID="{8E9987B5-5D2A-4D8C-9A78-A0DDB0737CBC}" presName="space" presStyleCnt="0"/>
      <dgm:spPr/>
    </dgm:pt>
    <dgm:pt modelId="{9F90F10B-F78D-4A43-81A3-1677541E91E3}" type="pres">
      <dgm:prSet presAssocID="{92EE40C2-6F41-4AFD-BD3B-49DF195F0B35}" presName="composite" presStyleCnt="0"/>
      <dgm:spPr/>
    </dgm:pt>
    <dgm:pt modelId="{6E4C25BF-2234-441B-A1B0-CB459A58F749}" type="pres">
      <dgm:prSet presAssocID="{92EE40C2-6F41-4AFD-BD3B-49DF195F0B3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23FBFB8-A431-4666-9C54-1692879B711B}" type="pres">
      <dgm:prSet presAssocID="{92EE40C2-6F41-4AFD-BD3B-49DF195F0B3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BAC2318-4439-4B33-8D57-24A627ACFE2A}" type="presOf" srcId="{92EE40C2-6F41-4AFD-BD3B-49DF195F0B35}" destId="{6E4C25BF-2234-441B-A1B0-CB459A58F749}" srcOrd="0" destOrd="0" presId="urn:microsoft.com/office/officeart/2005/8/layout/hList1"/>
    <dgm:cxn modelId="{8152FB19-4B7F-4115-9685-4488F0529136}" srcId="{92EE40C2-6F41-4AFD-BD3B-49DF195F0B35}" destId="{D3DD2D40-A65F-43E3-A836-428625EC1217}" srcOrd="0" destOrd="0" parTransId="{7DA4A1EC-4682-4C80-9EC7-CD3A0F5EFF75}" sibTransId="{44A3BC96-499D-4C13-9F7E-CA1A2CFD9BD5}"/>
    <dgm:cxn modelId="{D5338B20-E760-47D3-AF60-974A345B8579}" srcId="{682FC2EB-5166-4607-BB5B-742442087171}" destId="{E094C3CD-A3E2-48B8-8502-615E0CDFF061}" srcOrd="0" destOrd="0" parTransId="{5E6BBD8B-2D0C-4491-B619-F5F5029AD582}" sibTransId="{688DF983-4B9F-42BC-81F3-36834C6DE7E6}"/>
    <dgm:cxn modelId="{A24E2729-FE77-4061-8039-609ABFC3075B}" srcId="{D96515B3-8D7A-4738-B92F-847C3CC5CA94}" destId="{92EE40C2-6F41-4AFD-BD3B-49DF195F0B35}" srcOrd="2" destOrd="0" parTransId="{8159C2B2-9E0E-4770-8C91-B81654ED7B38}" sibTransId="{30E68D7A-6EBA-4995-AE75-01F665B5BD0C}"/>
    <dgm:cxn modelId="{519C942D-18F0-48A7-B503-15F9AA15BC01}" type="presOf" srcId="{08C5B679-D67F-4924-9130-ECBB204B832E}" destId="{EF5B5BDA-BD57-410C-9510-40C8302F7CB5}" srcOrd="0" destOrd="0" presId="urn:microsoft.com/office/officeart/2005/8/layout/hList1"/>
    <dgm:cxn modelId="{BAF4B435-E855-4022-BE10-12190874ECA1}" type="presOf" srcId="{B5D623AB-4C0F-4295-AD2D-58C2FA410AA5}" destId="{7CB16300-81E1-4208-BCE6-A4B1846375DE}" srcOrd="0" destOrd="0" presId="urn:microsoft.com/office/officeart/2005/8/layout/hList1"/>
    <dgm:cxn modelId="{37C1A354-86B4-4840-99B3-31477309C389}" type="presOf" srcId="{D96515B3-8D7A-4738-B92F-847C3CC5CA94}" destId="{75254165-E45B-4FE9-966B-78C5D8EC98E8}" srcOrd="0" destOrd="0" presId="urn:microsoft.com/office/officeart/2005/8/layout/hList1"/>
    <dgm:cxn modelId="{ADC91D96-F342-48E3-946A-365260AE32C0}" srcId="{B5D623AB-4C0F-4295-AD2D-58C2FA410AA5}" destId="{08C5B679-D67F-4924-9130-ECBB204B832E}" srcOrd="0" destOrd="0" parTransId="{532DA95D-D679-4D42-94D6-B5D4C028D275}" sibTransId="{A855ED23-F7B4-490F-A1E7-40B1DBF8846F}"/>
    <dgm:cxn modelId="{86A7B19D-F849-4CC0-A455-B546974F6FA7}" type="presOf" srcId="{682FC2EB-5166-4607-BB5B-742442087171}" destId="{21A03375-0640-469D-A579-7A4D58EFF4F2}" srcOrd="0" destOrd="0" presId="urn:microsoft.com/office/officeart/2005/8/layout/hList1"/>
    <dgm:cxn modelId="{D4BA9CA1-03EB-4637-80EB-7CF860C7F86C}" type="presOf" srcId="{E094C3CD-A3E2-48B8-8502-615E0CDFF061}" destId="{0ADFC230-8B7A-44EA-AB22-357D4B90D92F}" srcOrd="0" destOrd="0" presId="urn:microsoft.com/office/officeart/2005/8/layout/hList1"/>
    <dgm:cxn modelId="{253B65A5-CF8F-46C3-84DF-67B980939414}" type="presOf" srcId="{D3DD2D40-A65F-43E3-A836-428625EC1217}" destId="{A23FBFB8-A431-4666-9C54-1692879B711B}" srcOrd="0" destOrd="0" presId="urn:microsoft.com/office/officeart/2005/8/layout/hList1"/>
    <dgm:cxn modelId="{8D8F31BE-C410-4DDF-AD2A-4D2247BDBE21}" srcId="{D96515B3-8D7A-4738-B92F-847C3CC5CA94}" destId="{B5D623AB-4C0F-4295-AD2D-58C2FA410AA5}" srcOrd="1" destOrd="0" parTransId="{1FD8F454-51EB-487B-8DA9-53D0C98DB409}" sibTransId="{8E9987B5-5D2A-4D8C-9A78-A0DDB0737CBC}"/>
    <dgm:cxn modelId="{1BC72FFB-2A59-4CF4-91BD-4E6A14CDFF0D}" srcId="{D96515B3-8D7A-4738-B92F-847C3CC5CA94}" destId="{682FC2EB-5166-4607-BB5B-742442087171}" srcOrd="0" destOrd="0" parTransId="{D513254B-16C4-412E-AA85-6763E4B280E2}" sibTransId="{4EC9269D-C82D-4822-B7BD-DC91918A4CF3}"/>
    <dgm:cxn modelId="{AD170E01-7E33-4704-9C26-5FEDA54BD518}" type="presParOf" srcId="{75254165-E45B-4FE9-966B-78C5D8EC98E8}" destId="{F529A01D-7B12-445C-8454-B0C3DDB2619E}" srcOrd="0" destOrd="0" presId="urn:microsoft.com/office/officeart/2005/8/layout/hList1"/>
    <dgm:cxn modelId="{FC3DCEE2-6F66-4451-8E6B-B2D72D720D88}" type="presParOf" srcId="{F529A01D-7B12-445C-8454-B0C3DDB2619E}" destId="{21A03375-0640-469D-A579-7A4D58EFF4F2}" srcOrd="0" destOrd="0" presId="urn:microsoft.com/office/officeart/2005/8/layout/hList1"/>
    <dgm:cxn modelId="{6943821E-2533-4EB0-BFBE-D5A3EF21AEEC}" type="presParOf" srcId="{F529A01D-7B12-445C-8454-B0C3DDB2619E}" destId="{0ADFC230-8B7A-44EA-AB22-357D4B90D92F}" srcOrd="1" destOrd="0" presId="urn:microsoft.com/office/officeart/2005/8/layout/hList1"/>
    <dgm:cxn modelId="{B6D46288-92F0-4D9C-A286-8E65FCD921B4}" type="presParOf" srcId="{75254165-E45B-4FE9-966B-78C5D8EC98E8}" destId="{B1521C2B-0BBF-4EFA-B6D1-5C1A29983CCB}" srcOrd="1" destOrd="0" presId="urn:microsoft.com/office/officeart/2005/8/layout/hList1"/>
    <dgm:cxn modelId="{96A53D9B-6A3A-41D9-B1A4-0FB1DC7449DD}" type="presParOf" srcId="{75254165-E45B-4FE9-966B-78C5D8EC98E8}" destId="{4538E566-10EB-4B0B-AD6E-9EA3BCD05F88}" srcOrd="2" destOrd="0" presId="urn:microsoft.com/office/officeart/2005/8/layout/hList1"/>
    <dgm:cxn modelId="{29855F71-A7DA-40E7-B22E-D1CD031D0EA2}" type="presParOf" srcId="{4538E566-10EB-4B0B-AD6E-9EA3BCD05F88}" destId="{7CB16300-81E1-4208-BCE6-A4B1846375DE}" srcOrd="0" destOrd="0" presId="urn:microsoft.com/office/officeart/2005/8/layout/hList1"/>
    <dgm:cxn modelId="{FC07AF61-B45E-49EB-AC80-9B7E4C3FB1EF}" type="presParOf" srcId="{4538E566-10EB-4B0B-AD6E-9EA3BCD05F88}" destId="{EF5B5BDA-BD57-410C-9510-40C8302F7CB5}" srcOrd="1" destOrd="0" presId="urn:microsoft.com/office/officeart/2005/8/layout/hList1"/>
    <dgm:cxn modelId="{9DFAB909-D78C-491A-B756-C7AB6DDFF1EB}" type="presParOf" srcId="{75254165-E45B-4FE9-966B-78C5D8EC98E8}" destId="{C15E746A-496D-4126-9C9E-F51FB321C720}" srcOrd="3" destOrd="0" presId="urn:microsoft.com/office/officeart/2005/8/layout/hList1"/>
    <dgm:cxn modelId="{907F03F6-BC5D-48BB-B54E-667303108283}" type="presParOf" srcId="{75254165-E45B-4FE9-966B-78C5D8EC98E8}" destId="{9F90F10B-F78D-4A43-81A3-1677541E91E3}" srcOrd="4" destOrd="0" presId="urn:microsoft.com/office/officeart/2005/8/layout/hList1"/>
    <dgm:cxn modelId="{CD46E52B-06A8-4EB1-A0B4-B8E1F5F0C986}" type="presParOf" srcId="{9F90F10B-F78D-4A43-81A3-1677541E91E3}" destId="{6E4C25BF-2234-441B-A1B0-CB459A58F749}" srcOrd="0" destOrd="0" presId="urn:microsoft.com/office/officeart/2005/8/layout/hList1"/>
    <dgm:cxn modelId="{1776618C-D49F-43FF-89A2-766490D4CA7B}" type="presParOf" srcId="{9F90F10B-F78D-4A43-81A3-1677541E91E3}" destId="{A23FBFB8-A431-4666-9C54-1692879B711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03375-0640-469D-A579-7A4D58EFF4F2}">
      <dsp:nvSpPr>
        <dsp:cNvPr id="0" name=""/>
        <dsp:cNvSpPr/>
      </dsp:nvSpPr>
      <dsp:spPr>
        <a:xfrm>
          <a:off x="2526" y="67782"/>
          <a:ext cx="2463675" cy="759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Dezvoltarea</a:t>
          </a:r>
          <a:r>
            <a:rPr lang="en-US" sz="2100" kern="1200" dirty="0"/>
            <a:t> </a:t>
          </a:r>
          <a:r>
            <a:rPr lang="en-US" sz="2100" kern="1200" dirty="0" err="1"/>
            <a:t>Gândirii</a:t>
          </a:r>
          <a:endParaRPr lang="ru-RU" sz="2100" kern="1200" dirty="0"/>
        </a:p>
      </dsp:txBody>
      <dsp:txXfrm>
        <a:off x="2526" y="67782"/>
        <a:ext cx="2463675" cy="759447"/>
      </dsp:txXfrm>
    </dsp:sp>
    <dsp:sp modelId="{0ADFC230-8B7A-44EA-AB22-357D4B90D92F}">
      <dsp:nvSpPr>
        <dsp:cNvPr id="0" name=""/>
        <dsp:cNvSpPr/>
      </dsp:nvSpPr>
      <dsp:spPr>
        <a:xfrm>
          <a:off x="2526" y="827229"/>
          <a:ext cx="2463675" cy="23634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Stimularea</a:t>
          </a:r>
          <a:r>
            <a:rPr lang="en-US" sz="2100" kern="1200" dirty="0"/>
            <a:t> </a:t>
          </a:r>
          <a:r>
            <a:rPr lang="en-US" sz="2100" kern="1200" dirty="0" err="1"/>
            <a:t>gândirii</a:t>
          </a:r>
          <a:r>
            <a:rPr lang="en-US" sz="2100" kern="1200" dirty="0"/>
            <a:t> </a:t>
          </a:r>
          <a:r>
            <a:rPr lang="en-US" sz="2100" kern="1200" dirty="0" err="1"/>
            <a:t>critice</a:t>
          </a:r>
          <a:r>
            <a:rPr lang="en-US" sz="2100" kern="1200" dirty="0"/>
            <a:t> </a:t>
          </a:r>
          <a:r>
            <a:rPr lang="en-US" sz="2100" kern="1200" dirty="0" err="1"/>
            <a:t>și</a:t>
          </a:r>
          <a:r>
            <a:rPr lang="en-US" sz="2100" kern="1200" dirty="0"/>
            <a:t> a </a:t>
          </a:r>
          <a:r>
            <a:rPr lang="en-US" sz="2100" kern="1200" dirty="0" err="1"/>
            <a:t>capacităţii</a:t>
          </a:r>
          <a:r>
            <a:rPr lang="en-US" sz="2100" kern="1200" dirty="0"/>
            <a:t> de </a:t>
          </a:r>
          <a:r>
            <a:rPr lang="en-US" sz="2100" kern="1200" dirty="0" err="1"/>
            <a:t>analiză</a:t>
          </a:r>
          <a:r>
            <a:rPr lang="en-US" sz="2100" kern="1200" dirty="0"/>
            <a:t> a </a:t>
          </a:r>
          <a:r>
            <a:rPr lang="en-US" sz="2100" kern="1200" dirty="0" err="1"/>
            <a:t>studentului</a:t>
          </a:r>
          <a:r>
            <a:rPr lang="en-US" sz="2100" kern="1200" dirty="0"/>
            <a:t>, </a:t>
          </a:r>
          <a:r>
            <a:rPr lang="en-US" sz="2100" kern="1200" dirty="0" err="1"/>
            <a:t>dincolo</a:t>
          </a:r>
          <a:r>
            <a:rPr lang="en-US" sz="2100" kern="1200" dirty="0"/>
            <a:t> de </a:t>
          </a:r>
          <a:r>
            <a:rPr lang="en-US" sz="2100" kern="1200" dirty="0" err="1"/>
            <a:t>memorare</a:t>
          </a:r>
          <a:r>
            <a:rPr lang="en-US" sz="2100" kern="1200" dirty="0"/>
            <a:t>.</a:t>
          </a:r>
          <a:endParaRPr lang="ru-RU" sz="2100" kern="1200" dirty="0"/>
        </a:p>
      </dsp:txBody>
      <dsp:txXfrm>
        <a:off x="2526" y="827229"/>
        <a:ext cx="2463675" cy="2363445"/>
      </dsp:txXfrm>
    </dsp:sp>
    <dsp:sp modelId="{7CB16300-81E1-4208-BCE6-A4B1846375DE}">
      <dsp:nvSpPr>
        <dsp:cNvPr id="0" name=""/>
        <dsp:cNvSpPr/>
      </dsp:nvSpPr>
      <dsp:spPr>
        <a:xfrm>
          <a:off x="2811116" y="67782"/>
          <a:ext cx="2463675" cy="759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Transmiterea Cunoştinţelor</a:t>
          </a:r>
          <a:endParaRPr lang="ru-RU" sz="2100" kern="1200"/>
        </a:p>
      </dsp:txBody>
      <dsp:txXfrm>
        <a:off x="2811116" y="67782"/>
        <a:ext cx="2463675" cy="759447"/>
      </dsp:txXfrm>
    </dsp:sp>
    <dsp:sp modelId="{EF5B5BDA-BD57-410C-9510-40C8302F7CB5}">
      <dsp:nvSpPr>
        <dsp:cNvPr id="0" name=""/>
        <dsp:cNvSpPr/>
      </dsp:nvSpPr>
      <dsp:spPr>
        <a:xfrm>
          <a:off x="2811116" y="827229"/>
          <a:ext cx="2463675" cy="23634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Oferirea</a:t>
          </a:r>
          <a:r>
            <a:rPr lang="en-US" sz="2100" kern="1200" dirty="0"/>
            <a:t> </a:t>
          </a:r>
          <a:r>
            <a:rPr lang="en-US" sz="2100" kern="1200" dirty="0" err="1"/>
            <a:t>unei</a:t>
          </a:r>
          <a:r>
            <a:rPr lang="en-US" sz="2100" kern="1200" dirty="0"/>
            <a:t> </a:t>
          </a:r>
          <a:r>
            <a:rPr lang="en-US" sz="2100" kern="1200" dirty="0" err="1"/>
            <a:t>baze</a:t>
          </a:r>
          <a:r>
            <a:rPr lang="en-US" sz="2100" kern="1200" dirty="0"/>
            <a:t> </a:t>
          </a:r>
          <a:r>
            <a:rPr lang="en-US" sz="2100" kern="1200" dirty="0" err="1"/>
            <a:t>solide</a:t>
          </a:r>
          <a:r>
            <a:rPr lang="en-US" sz="2100" kern="1200" dirty="0"/>
            <a:t> de </a:t>
          </a:r>
          <a:r>
            <a:rPr lang="en-US" sz="2100" kern="1200" dirty="0" err="1"/>
            <a:t>informații</a:t>
          </a:r>
          <a:r>
            <a:rPr lang="en-US" sz="2100" kern="1200" dirty="0"/>
            <a:t> </a:t>
          </a:r>
          <a:r>
            <a:rPr lang="en-US" sz="2100" kern="1200" dirty="0" err="1"/>
            <a:t>teoretice</a:t>
          </a:r>
          <a:r>
            <a:rPr lang="en-US" sz="2100" kern="1200" dirty="0"/>
            <a:t> </a:t>
          </a:r>
          <a:r>
            <a:rPr lang="en-US" sz="2100" kern="1200" dirty="0" err="1"/>
            <a:t>actualizate</a:t>
          </a:r>
          <a:r>
            <a:rPr lang="en-US" sz="2100" kern="1200" dirty="0"/>
            <a:t> </a:t>
          </a:r>
          <a:r>
            <a:rPr lang="en-US" sz="2100" kern="1200" dirty="0" err="1"/>
            <a:t>şi</a:t>
          </a:r>
          <a:r>
            <a:rPr lang="en-US" sz="2100" kern="1200" dirty="0"/>
            <a:t> </a:t>
          </a:r>
          <a:r>
            <a:rPr lang="en-US" sz="2100" kern="1200" dirty="0" err="1"/>
            <a:t>relevante</a:t>
          </a:r>
          <a:r>
            <a:rPr lang="en-US" sz="2100" kern="1200" dirty="0"/>
            <a:t> </a:t>
          </a:r>
          <a:r>
            <a:rPr lang="en-US" sz="2100" kern="1200" dirty="0" err="1"/>
            <a:t>pentru</a:t>
          </a:r>
          <a:r>
            <a:rPr lang="en-US" sz="2100" kern="1200" dirty="0"/>
            <a:t> </a:t>
          </a:r>
          <a:r>
            <a:rPr lang="en-US" sz="2100" kern="1200" dirty="0" err="1"/>
            <a:t>domeniu</a:t>
          </a:r>
          <a:r>
            <a:rPr lang="en-US" sz="2100" kern="1200" dirty="0"/>
            <a:t>.</a:t>
          </a:r>
          <a:endParaRPr lang="ru-RU" sz="2100" kern="1200" dirty="0"/>
        </a:p>
      </dsp:txBody>
      <dsp:txXfrm>
        <a:off x="2811116" y="827229"/>
        <a:ext cx="2463675" cy="2363445"/>
      </dsp:txXfrm>
    </dsp:sp>
    <dsp:sp modelId="{6E4C25BF-2234-441B-A1B0-CB459A58F749}">
      <dsp:nvSpPr>
        <dsp:cNvPr id="0" name=""/>
        <dsp:cNvSpPr/>
      </dsp:nvSpPr>
      <dsp:spPr>
        <a:xfrm>
          <a:off x="5619706" y="67782"/>
          <a:ext cx="2463675" cy="7594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Verificarea Înțelegerii</a:t>
          </a:r>
          <a:endParaRPr lang="ru-RU" sz="2100" kern="1200"/>
        </a:p>
      </dsp:txBody>
      <dsp:txXfrm>
        <a:off x="5619706" y="67782"/>
        <a:ext cx="2463675" cy="759447"/>
      </dsp:txXfrm>
    </dsp:sp>
    <dsp:sp modelId="{A23FBFB8-A431-4666-9C54-1692879B711B}">
      <dsp:nvSpPr>
        <dsp:cNvPr id="0" name=""/>
        <dsp:cNvSpPr/>
      </dsp:nvSpPr>
      <dsp:spPr>
        <a:xfrm>
          <a:off x="5619706" y="827229"/>
          <a:ext cx="2463675" cy="23634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Evaluarea</a:t>
          </a:r>
          <a:r>
            <a:rPr lang="en-US" sz="2100" kern="1200" dirty="0"/>
            <a:t> </a:t>
          </a:r>
          <a:r>
            <a:rPr lang="en-US" sz="2100" kern="1200" dirty="0" err="1"/>
            <a:t>constantă</a:t>
          </a:r>
          <a:r>
            <a:rPr lang="en-US" sz="2100" kern="1200" dirty="0"/>
            <a:t> </a:t>
          </a:r>
          <a:r>
            <a:rPr lang="en-US" sz="2100" kern="1200" dirty="0" err="1"/>
            <a:t>pentru</a:t>
          </a:r>
          <a:r>
            <a:rPr lang="en-US" sz="2100" kern="1200" dirty="0"/>
            <a:t> a </a:t>
          </a:r>
          <a:r>
            <a:rPr lang="en-US" sz="2100" kern="1200" dirty="0" err="1"/>
            <a:t>confirma</a:t>
          </a:r>
          <a:r>
            <a:rPr lang="en-US" sz="2100" kern="1200" dirty="0"/>
            <a:t> </a:t>
          </a:r>
          <a:r>
            <a:rPr lang="en-US" sz="2100" kern="1200" dirty="0" err="1"/>
            <a:t>dacă</a:t>
          </a:r>
          <a:r>
            <a:rPr lang="en-US" sz="2100" kern="1200" dirty="0"/>
            <a:t> </a:t>
          </a:r>
          <a:r>
            <a:rPr lang="en-US" sz="2100" kern="1200" dirty="0" err="1"/>
            <a:t>studentul</a:t>
          </a:r>
          <a:r>
            <a:rPr lang="en-US" sz="2100" kern="1200" dirty="0"/>
            <a:t> a </a:t>
          </a:r>
          <a:r>
            <a:rPr lang="en-US" sz="2100" kern="1200" dirty="0" err="1"/>
            <a:t>asimilat</a:t>
          </a:r>
          <a:r>
            <a:rPr lang="en-US" sz="2100" kern="1200" dirty="0"/>
            <a:t> </a:t>
          </a:r>
          <a:r>
            <a:rPr lang="en-US" sz="2100" kern="1200" dirty="0" err="1"/>
            <a:t>corect</a:t>
          </a:r>
          <a:r>
            <a:rPr lang="en-US" sz="2100" kern="1200" dirty="0"/>
            <a:t> </a:t>
          </a:r>
          <a:r>
            <a:rPr lang="en-US" sz="2100" kern="1200" dirty="0" err="1"/>
            <a:t>conceptele</a:t>
          </a:r>
          <a:r>
            <a:rPr lang="en-US" sz="2100" kern="1200" dirty="0"/>
            <a:t> predate.</a:t>
          </a:r>
          <a:endParaRPr lang="ru-RU" sz="2100" kern="1200" dirty="0"/>
        </a:p>
      </dsp:txBody>
      <dsp:txXfrm>
        <a:off x="5619706" y="827229"/>
        <a:ext cx="2463675" cy="2363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378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90485-86F7-1DDA-14AB-467AACC9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B00A3-9129-4136-1279-33B8C10E4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CD99C-F41C-6CA5-0293-2D71524B5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82234-9C6D-371F-EAE5-B6161DF5BE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1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DB03-AF4C-1021-CBAB-73B556A7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13A3C-A924-4D5A-7C70-A2C91BBF2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E5BF2-7E59-D502-77BE-624B87C84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861E-4955-F9E3-F1DB-FA7F435D3C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35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B9298-EF8E-0044-3248-CEEEF7C1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6207D-6453-99B9-BB52-BFB5610D5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11C33-F9DD-F938-CD16-620576AD9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67A3E-5D1B-8252-2567-B61645F09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57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B17D9-A25D-6EBF-3C52-160D5CF1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0BA10-C3E8-9474-165C-59CE16FC7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BFA88-3E0E-08E9-AB4E-135BEE931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444AC-D76A-3F8C-CB55-1EC5E19B6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84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6C33-F19A-988E-8CFC-C3DE1715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942A1-A934-3AF4-466E-069B4D779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ABFB0-3808-64C8-DE3C-0B921B0D8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5D8B9-FC8F-2129-69A5-80060F451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2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06850-866B-B655-F3F0-CC3C77C4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1032C-7AFD-4D14-63FE-C5AB92CB9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0AE88-2D1B-FE74-B91E-C96FD1F95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F083F-A764-5404-EE25-D0939D031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7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78A5-3A33-C294-3B16-45367AF6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A844A-C7B2-4BE0-C956-FBE7986D3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2EA32-F4E8-0C36-CC68-47C6A4622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36F58-3AC2-DFE0-D3C9-1F255BA2E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1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9F773-B74C-7898-9579-840DA3AE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0623B-3662-A742-050E-1AB2400DB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8779D-B5F5-39DF-39A9-49D57ABE4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3F22A-FA97-AD9B-7EFF-2359BB00A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89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ED34-7BC0-C580-CE9B-7711A0C5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96032-6F83-5808-371C-985E99AA4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C316D-CE6A-3F0F-9BBC-4B615750E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9BA5-34FD-6421-5245-BABC048A4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70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DA47-A0D1-56A5-3EE0-DEBB5ACC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0605B-54D4-9A0A-8D99-A17B18DC0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DCDCE-9ED0-FECF-85D4-5FC6EE612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2A23F-16C6-2992-F174-F1BF68E31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97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B86A-38D1-7F7E-8161-61BE73E1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81CEC-76E9-D149-3C02-1C8B883F5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486F3-CF54-3E5C-0819-4F22DDB07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B1706-3DEF-94E5-4C30-762227581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81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32340-A30D-2326-14A4-4E3B5141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A79FB-B156-C45D-F766-E3112452A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436A1-63A7-AAA7-6B3C-8050FB76A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E0285-99B2-3054-6E67-B0E7EAEC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12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4008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</a:rPr>
              <a:t>PROFESSIONAL DEVELOPMENT WORKSHOP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Artificial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36576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Teachers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365760" y="30632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How AI is reshaping education — tools, strategies, ethics &amp; the future classroom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977640"/>
            <a:ext cx="1508760" cy="384048"/>
          </a:xfrm>
          <a:prstGeom prst="roundRect">
            <a:avLst>
              <a:gd name="adj" fmla="val 28571"/>
            </a:avLst>
          </a:prstGeom>
          <a:solidFill>
            <a:srgbClr val="4F46E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365760" y="3977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7FF"/>
                </a:solidFill>
              </a:rPr>
              <a:t>News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57400" y="3977640"/>
            <a:ext cx="1508760" cy="384048"/>
          </a:xfrm>
          <a:prstGeom prst="roundRect">
            <a:avLst>
              <a:gd name="adj" fmla="val 28571"/>
            </a:avLst>
          </a:prstGeom>
          <a:solidFill>
            <a:srgbClr val="4F46E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2057400" y="3977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7FF"/>
                </a:solidFill>
              </a:rPr>
              <a:t>Prompts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49040" y="3977640"/>
            <a:ext cx="1508760" cy="384048"/>
          </a:xfrm>
          <a:prstGeom prst="roundRect">
            <a:avLst>
              <a:gd name="adj" fmla="val 28571"/>
            </a:avLst>
          </a:prstGeom>
          <a:solidFill>
            <a:srgbClr val="4F46E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3749040" y="3977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7FF"/>
                </a:solidFill>
              </a:rPr>
              <a:t>Tools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40680" y="3977640"/>
            <a:ext cx="1508760" cy="384048"/>
          </a:xfrm>
          <a:prstGeom prst="roundRect">
            <a:avLst>
              <a:gd name="adj" fmla="val 28571"/>
            </a:avLst>
          </a:prstGeom>
          <a:solidFill>
            <a:srgbClr val="4F46E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5440680" y="3977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7FF"/>
                </a:solidFill>
              </a:rPr>
              <a:t>Lessons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32320" y="3977640"/>
            <a:ext cx="1508760" cy="384048"/>
          </a:xfrm>
          <a:prstGeom prst="roundRect">
            <a:avLst>
              <a:gd name="adj" fmla="val 28571"/>
            </a:avLst>
          </a:prstGeom>
          <a:solidFill>
            <a:srgbClr val="4F46E5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7132320" y="3977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7FF"/>
                </a:solidFill>
              </a:rPr>
              <a:t>Ethics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202</a:t>
            </a:r>
            <a:r>
              <a:rPr lang="ru-RU" sz="1000" dirty="0">
                <a:solidFill>
                  <a:srgbClr val="475569"/>
                </a:solidFill>
              </a:rPr>
              <a:t>6</a:t>
            </a:r>
            <a:r>
              <a:rPr lang="en-US" sz="1000" dirty="0">
                <a:solidFill>
                  <a:srgbClr val="475569"/>
                </a:solidFill>
              </a:rPr>
              <a:t> · </a:t>
            </a:r>
            <a:r>
              <a:rPr lang="ro-MD" sz="1000" dirty="0">
                <a:solidFill>
                  <a:srgbClr val="475569"/>
                </a:solidFill>
              </a:rPr>
              <a:t>MAIDACENCO ANASTASIA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D74A2-C959-7CA4-3DFE-6CC4173E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369245-8EC1-67E5-2713-AE9131106F9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8E41081-49D0-4ABE-1D7F-8A557C511BBA}"/>
              </a:ext>
            </a:extLst>
          </p:cNvPr>
          <p:cNvSpPr/>
          <p:nvPr/>
        </p:nvSpPr>
        <p:spPr>
          <a:xfrm>
            <a:off x="77724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MD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MYSELF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6F7D068-E50A-D949-4D95-5FF2135B938B}"/>
              </a:ext>
            </a:extLst>
          </p:cNvPr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</a:t>
            </a:r>
            <a:r>
              <a:rPr lang="ro-MD" sz="1800" b="1" dirty="0">
                <a:solidFill>
                  <a:srgbClr val="06B6D4"/>
                </a:solidFill>
              </a:rPr>
              <a:t>1</a:t>
            </a:r>
            <a:endParaRPr lang="en-US" sz="18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9C1E91E-B411-C903-9A2C-7196BC59860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B9D7">
                <a:tint val="45000"/>
                <a:satMod val="400000"/>
              </a:srgb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020" y="109727"/>
            <a:ext cx="457201" cy="457201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одежда, Человеческое лицо, женщина&#10;&#10;Автоматически созданное описание">
            <a:extLst>
              <a:ext uri="{FF2B5EF4-FFF2-40B4-BE49-F238E27FC236}">
                <a16:creationId xmlns:a16="http://schemas.microsoft.com/office/drawing/2014/main" id="{78669D14-3F21-1ECF-B5BF-2A9C499B2B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604"/>
          <a:stretch>
            <a:fillRect/>
          </a:stretch>
        </p:blipFill>
        <p:spPr>
          <a:xfrm>
            <a:off x="1" y="685800"/>
            <a:ext cx="4390571" cy="4457700"/>
          </a:xfrm>
          <a:custGeom>
            <a:avLst/>
            <a:gdLst>
              <a:gd name="connsiteX0" fmla="*/ 136296 w 4390571"/>
              <a:gd name="connsiteY0" fmla="*/ 0 h 4457700"/>
              <a:gd name="connsiteX1" fmla="*/ 3216505 w 4390571"/>
              <a:gd name="connsiteY1" fmla="*/ 0 h 4457700"/>
              <a:gd name="connsiteX2" fmla="*/ 3402865 w 4390571"/>
              <a:gd name="connsiteY2" fmla="*/ 138683 h 4457700"/>
              <a:gd name="connsiteX3" fmla="*/ 4390571 w 4390571"/>
              <a:gd name="connsiteY3" fmla="*/ 2222935 h 4457700"/>
              <a:gd name="connsiteX4" fmla="*/ 3402865 w 4390571"/>
              <a:gd name="connsiteY4" fmla="*/ 4307187 h 4457700"/>
              <a:gd name="connsiteX5" fmla="*/ 3200608 w 4390571"/>
              <a:gd name="connsiteY5" fmla="*/ 4457700 h 4457700"/>
              <a:gd name="connsiteX6" fmla="*/ 152193 w 4390571"/>
              <a:gd name="connsiteY6" fmla="*/ 4457700 h 4457700"/>
              <a:gd name="connsiteX7" fmla="*/ 0 w 4390571"/>
              <a:gd name="connsiteY7" fmla="*/ 4344443 h 4457700"/>
              <a:gd name="connsiteX8" fmla="*/ 0 w 4390571"/>
              <a:gd name="connsiteY8" fmla="*/ 101427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90571" h="4457700">
                <a:moveTo>
                  <a:pt x="136296" y="0"/>
                </a:moveTo>
                <a:lnTo>
                  <a:pt x="3216505" y="0"/>
                </a:lnTo>
                <a:lnTo>
                  <a:pt x="3402865" y="138683"/>
                </a:lnTo>
                <a:cubicBezTo>
                  <a:pt x="4006082" y="634093"/>
                  <a:pt x="4390571" y="1383830"/>
                  <a:pt x="4390571" y="2222935"/>
                </a:cubicBezTo>
                <a:cubicBezTo>
                  <a:pt x="4390571" y="3062040"/>
                  <a:pt x="4006082" y="3811777"/>
                  <a:pt x="3402865" y="4307187"/>
                </a:cubicBezTo>
                <a:lnTo>
                  <a:pt x="3200608" y="4457700"/>
                </a:lnTo>
                <a:lnTo>
                  <a:pt x="152193" y="4457700"/>
                </a:lnTo>
                <a:lnTo>
                  <a:pt x="0" y="4344443"/>
                </a:lnTo>
                <a:lnTo>
                  <a:pt x="0" y="101427"/>
                </a:lnTo>
                <a:close/>
              </a:path>
            </a:pathLst>
          </a:cu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19BDF30-96CC-549A-802A-9312C7F6A7D8}"/>
              </a:ext>
            </a:extLst>
          </p:cNvPr>
          <p:cNvSpPr txBox="1"/>
          <p:nvPr/>
        </p:nvSpPr>
        <p:spPr>
          <a:xfrm>
            <a:off x="4390572" y="1756592"/>
            <a:ext cx="4480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o-MD" sz="3200" b="1" dirty="0">
                <a:solidFill>
                  <a:srgbClr val="4F46E5"/>
                </a:solidFill>
              </a:rPr>
              <a:t>Maidacenco Anastasia</a:t>
            </a:r>
            <a:endParaRPr lang="en-US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07BA0A-DCEC-FEFE-79B1-597F79F54B15}"/>
              </a:ext>
            </a:extLst>
          </p:cNvPr>
          <p:cNvSpPr txBox="1"/>
          <p:nvPr/>
        </p:nvSpPr>
        <p:spPr>
          <a:xfrm>
            <a:off x="4830353" y="2719756"/>
            <a:ext cx="42222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o-MD" sz="1800" dirty="0">
                <a:solidFill>
                  <a:srgbClr val="1E293B"/>
                </a:solidFill>
              </a:rPr>
              <a:t>Programator la HalleySoft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o-MD" dirty="0">
                <a:solidFill>
                  <a:srgbClr val="1E293B"/>
                </a:solidFill>
              </a:rPr>
              <a:t>Lector universitar la USARB</a:t>
            </a:r>
            <a:endParaRPr lang="ru-RU" dirty="0">
              <a:solidFill>
                <a:srgbClr val="1E293B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o-MD" dirty="0">
                <a:solidFill>
                  <a:srgbClr val="1E293B"/>
                </a:solidFill>
              </a:rPr>
              <a:t>Mentor la NORTEK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o-MD" dirty="0">
                <a:solidFill>
                  <a:srgbClr val="1E293B"/>
                </a:solidFill>
              </a:rPr>
              <a:t>Cercetător în domeniul IA și al securității informațiilor.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8433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722F8-B4D5-E61A-1A65-ED60B370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143CAA-352B-DC28-1FD6-5B4A062CE61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C0813B0-47F2-CBBF-A9EA-A893CD369369}"/>
              </a:ext>
            </a:extLst>
          </p:cNvPr>
          <p:cNvSpPr/>
          <p:nvPr/>
        </p:nvSpPr>
        <p:spPr>
          <a:xfrm>
            <a:off x="77724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MD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WORKSHOP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C648F0E-8A11-30BB-0A45-1529155E8D8A}"/>
              </a:ext>
            </a:extLst>
          </p:cNvPr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02</a:t>
            </a:r>
            <a:endParaRPr lang="en-US" sz="18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D0D6F5E-3CEF-7140-7EAF-DFE0F20F31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6B9D7">
                <a:tint val="45000"/>
                <a:satMod val="400000"/>
              </a:srgb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020" y="109727"/>
            <a:ext cx="457201" cy="457201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одежда, Человеческое лицо, женщина&#10;&#10;Автоматически созданное описание">
            <a:extLst>
              <a:ext uri="{FF2B5EF4-FFF2-40B4-BE49-F238E27FC236}">
                <a16:creationId xmlns:a16="http://schemas.microsoft.com/office/drawing/2014/main" id="{ED95B5D4-B987-AFD0-8EB1-7B74F6802D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604"/>
          <a:stretch>
            <a:fillRect/>
          </a:stretch>
        </p:blipFill>
        <p:spPr>
          <a:xfrm>
            <a:off x="1" y="685800"/>
            <a:ext cx="4390571" cy="4457700"/>
          </a:xfrm>
          <a:custGeom>
            <a:avLst/>
            <a:gdLst>
              <a:gd name="connsiteX0" fmla="*/ 136296 w 4390571"/>
              <a:gd name="connsiteY0" fmla="*/ 0 h 4457700"/>
              <a:gd name="connsiteX1" fmla="*/ 3216505 w 4390571"/>
              <a:gd name="connsiteY1" fmla="*/ 0 h 4457700"/>
              <a:gd name="connsiteX2" fmla="*/ 3402865 w 4390571"/>
              <a:gd name="connsiteY2" fmla="*/ 138683 h 4457700"/>
              <a:gd name="connsiteX3" fmla="*/ 4390571 w 4390571"/>
              <a:gd name="connsiteY3" fmla="*/ 2222935 h 4457700"/>
              <a:gd name="connsiteX4" fmla="*/ 3402865 w 4390571"/>
              <a:gd name="connsiteY4" fmla="*/ 4307187 h 4457700"/>
              <a:gd name="connsiteX5" fmla="*/ 3200608 w 4390571"/>
              <a:gd name="connsiteY5" fmla="*/ 4457700 h 4457700"/>
              <a:gd name="connsiteX6" fmla="*/ 152193 w 4390571"/>
              <a:gd name="connsiteY6" fmla="*/ 4457700 h 4457700"/>
              <a:gd name="connsiteX7" fmla="*/ 0 w 4390571"/>
              <a:gd name="connsiteY7" fmla="*/ 4344443 h 4457700"/>
              <a:gd name="connsiteX8" fmla="*/ 0 w 4390571"/>
              <a:gd name="connsiteY8" fmla="*/ 101427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90571" h="4457700">
                <a:moveTo>
                  <a:pt x="136296" y="0"/>
                </a:moveTo>
                <a:lnTo>
                  <a:pt x="3216505" y="0"/>
                </a:lnTo>
                <a:lnTo>
                  <a:pt x="3402865" y="138683"/>
                </a:lnTo>
                <a:cubicBezTo>
                  <a:pt x="4006082" y="634093"/>
                  <a:pt x="4390571" y="1383830"/>
                  <a:pt x="4390571" y="2222935"/>
                </a:cubicBezTo>
                <a:cubicBezTo>
                  <a:pt x="4390571" y="3062040"/>
                  <a:pt x="4006082" y="3811777"/>
                  <a:pt x="3402865" y="4307187"/>
                </a:cubicBezTo>
                <a:lnTo>
                  <a:pt x="3200608" y="4457700"/>
                </a:lnTo>
                <a:lnTo>
                  <a:pt x="152193" y="4457700"/>
                </a:lnTo>
                <a:lnTo>
                  <a:pt x="0" y="4344443"/>
                </a:lnTo>
                <a:lnTo>
                  <a:pt x="0" y="101427"/>
                </a:lnTo>
                <a:close/>
              </a:path>
            </a:pathLst>
          </a:cu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952525-5227-D0F7-7278-E6BB369BFD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0341" b="10864"/>
          <a:stretch/>
        </p:blipFill>
        <p:spPr>
          <a:xfrm>
            <a:off x="4916716" y="1129753"/>
            <a:ext cx="3659050" cy="356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1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NEWS &amp; LANDSCAPE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03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" y="868680"/>
            <a:ext cx="2743200" cy="1280160"/>
          </a:xfrm>
          <a:prstGeom prst="rect">
            <a:avLst/>
          </a:prstGeom>
          <a:solidFill>
            <a:srgbClr val="4F46E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22860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28600" y="1581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din </a:t>
            </a:r>
            <a:r>
              <a:rPr lang="en-US" sz="1050" b="1" dirty="0" err="1">
                <a:solidFill>
                  <a:srgbClr val="FFFFFF"/>
                </a:solidFill>
              </a:rPr>
              <a:t>locurile</a:t>
            </a:r>
            <a:r>
              <a:rPr lang="en-US" sz="1050" b="1" dirty="0">
                <a:solidFill>
                  <a:srgbClr val="FFFFFF"/>
                </a:solidFill>
              </a:rPr>
              <a:t> de </a:t>
            </a:r>
            <a:r>
              <a:rPr lang="en-US" sz="1050" b="1" dirty="0" err="1">
                <a:solidFill>
                  <a:srgbClr val="FFFFFF"/>
                </a:solidFill>
              </a:rPr>
              <a:t>muncă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vor</a:t>
            </a:r>
            <a:r>
              <a:rPr lang="en-US" sz="1050" b="1" dirty="0">
                <a:solidFill>
                  <a:srgbClr val="FFFFFF"/>
                </a:solidFill>
              </a:rPr>
              <a:t> fi </a:t>
            </a:r>
            <a:r>
              <a:rPr lang="en-US" sz="1050" b="1" dirty="0" err="1">
                <a:solidFill>
                  <a:srgbClr val="FFFFFF"/>
                </a:solidFill>
              </a:rPr>
              <a:t>afectate</a:t>
            </a:r>
            <a:r>
              <a:rPr lang="en-US" sz="1050" b="1" dirty="0">
                <a:solidFill>
                  <a:srgbClr val="FFFFFF"/>
                </a:solidFill>
              </a:rPr>
              <a:t> de </a:t>
            </a:r>
            <a:r>
              <a:rPr lang="ro-MD" sz="1050" b="1" dirty="0">
                <a:solidFill>
                  <a:srgbClr val="FFFFFF"/>
                </a:solidFill>
              </a:rPr>
              <a:t>IA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endParaRPr lang="ro-MD" sz="105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până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în</a:t>
            </a:r>
            <a:r>
              <a:rPr lang="en-US" sz="1050" b="1" dirty="0">
                <a:solidFill>
                  <a:srgbClr val="FFFFFF"/>
                </a:solidFill>
              </a:rPr>
              <a:t> 2030</a:t>
            </a:r>
            <a:endParaRPr lang="en-US" sz="1050" b="1" dirty="0"/>
          </a:p>
        </p:txBody>
      </p:sp>
      <p:sp>
        <p:nvSpPr>
          <p:cNvPr id="9" name="Shape 6"/>
          <p:cNvSpPr/>
          <p:nvPr/>
        </p:nvSpPr>
        <p:spPr>
          <a:xfrm>
            <a:off x="3154680" y="868680"/>
            <a:ext cx="2743200" cy="1280160"/>
          </a:xfrm>
          <a:prstGeom prst="rect">
            <a:avLst/>
          </a:prstGeom>
          <a:solidFill>
            <a:srgbClr val="06B6D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15468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200M+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154680" y="1581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utilizatori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activi</a:t>
            </a:r>
            <a:r>
              <a:rPr lang="en-US" sz="1050" b="1" dirty="0">
                <a:solidFill>
                  <a:srgbClr val="FFFFFF"/>
                </a:solidFill>
              </a:rPr>
              <a:t> ChatGPT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la </a:t>
            </a:r>
            <a:r>
              <a:rPr lang="en-US" sz="1050" b="1" dirty="0" err="1">
                <a:solidFill>
                  <a:srgbClr val="FFFFFF"/>
                </a:solidFill>
              </a:rPr>
              <a:t>nivel</a:t>
            </a:r>
            <a:r>
              <a:rPr lang="en-US" sz="1050" b="1" dirty="0">
                <a:solidFill>
                  <a:srgbClr val="FFFFFF"/>
                </a:solidFill>
              </a:rPr>
              <a:t> global (202</a:t>
            </a:r>
            <a:r>
              <a:rPr lang="ro-MD" sz="1050" b="1" dirty="0">
                <a:solidFill>
                  <a:srgbClr val="FFFFFF"/>
                </a:solidFill>
              </a:rPr>
              <a:t>6</a:t>
            </a:r>
            <a:r>
              <a:rPr lang="en-US" sz="1050" b="1" dirty="0">
                <a:solidFill>
                  <a:srgbClr val="FFFFFF"/>
                </a:solidFill>
              </a:rPr>
              <a:t>)</a:t>
            </a:r>
            <a:endParaRPr lang="en-US" sz="1050" b="1" dirty="0"/>
          </a:p>
        </p:txBody>
      </p:sp>
      <p:sp>
        <p:nvSpPr>
          <p:cNvPr id="12" name="Shape 9"/>
          <p:cNvSpPr/>
          <p:nvPr/>
        </p:nvSpPr>
        <p:spPr>
          <a:xfrm>
            <a:off x="6080760" y="868680"/>
            <a:ext cx="2743200" cy="128016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608076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080760" y="1581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dintre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profesori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raportează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că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utilizează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instrumente</a:t>
            </a:r>
            <a:r>
              <a:rPr lang="en-US" sz="1050" b="1" dirty="0">
                <a:solidFill>
                  <a:srgbClr val="FFFFFF"/>
                </a:solidFill>
              </a:rPr>
              <a:t> de </a:t>
            </a:r>
            <a:r>
              <a:rPr lang="ro-MD" sz="1050" b="1" dirty="0">
                <a:solidFill>
                  <a:srgbClr val="FFFFFF"/>
                </a:solidFill>
              </a:rPr>
              <a:t>IA</a:t>
            </a:r>
            <a:endParaRPr lang="en-US" sz="1050" b="1" dirty="0"/>
          </a:p>
        </p:txBody>
      </p:sp>
      <p:sp>
        <p:nvSpPr>
          <p:cNvPr id="15" name="Shape 12"/>
          <p:cNvSpPr/>
          <p:nvPr/>
        </p:nvSpPr>
        <p:spPr>
          <a:xfrm>
            <a:off x="228600" y="2331720"/>
            <a:ext cx="4297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228600" y="2331720"/>
            <a:ext cx="64008" cy="10972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41148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ChatGPT &amp; GPT-4o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26974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50" dirty="0">
                <a:solidFill>
                  <a:srgbClr val="1E293B"/>
                </a:solidFill>
              </a:rPr>
              <a:t>Modelul al OpenAI — multimodal, rapid, utilizat în 195 de țări. Poate citi, scrie, programa, analiza imagini și participa la conversații vocale.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09160" y="2331720"/>
            <a:ext cx="4297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4709160" y="2331720"/>
            <a:ext cx="64008" cy="10972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489204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Gemini 2.0 Flash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6974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Cel </a:t>
            </a:r>
            <a:r>
              <a:rPr lang="en-US" sz="950" dirty="0" err="1">
                <a:solidFill>
                  <a:srgbClr val="1E293B"/>
                </a:solidFill>
              </a:rPr>
              <a:t>mai</a:t>
            </a:r>
            <a:r>
              <a:rPr lang="en-US" sz="950" dirty="0">
                <a:solidFill>
                  <a:srgbClr val="1E293B"/>
                </a:solidFill>
              </a:rPr>
              <a:t> rapid model de </a:t>
            </a:r>
            <a:r>
              <a:rPr lang="en-US" sz="950" dirty="0" err="1">
                <a:solidFill>
                  <a:srgbClr val="1E293B"/>
                </a:solidFill>
              </a:rPr>
              <a:t>inteligență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artificială</a:t>
            </a:r>
            <a:r>
              <a:rPr lang="en-US" sz="950" dirty="0">
                <a:solidFill>
                  <a:srgbClr val="1E293B"/>
                </a:solidFill>
              </a:rPr>
              <a:t> de la Google, </a:t>
            </a:r>
            <a:r>
              <a:rPr lang="en-US" sz="950" dirty="0" err="1">
                <a:solidFill>
                  <a:srgbClr val="1E293B"/>
                </a:solidFill>
              </a:rPr>
              <a:t>integrat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în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Căutare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Documente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și</a:t>
            </a:r>
            <a:r>
              <a:rPr lang="en-US" sz="950" dirty="0">
                <a:solidFill>
                  <a:srgbClr val="1E293B"/>
                </a:solidFill>
              </a:rPr>
              <a:t> Classroom.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28600" y="3566160"/>
            <a:ext cx="4297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1"/>
          <p:cNvSpPr/>
          <p:nvPr/>
        </p:nvSpPr>
        <p:spPr>
          <a:xfrm>
            <a:off x="228600" y="3566160"/>
            <a:ext cx="64008" cy="10972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41148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Claude 3.7 Sonnet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39319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Inteligența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artificială</a:t>
            </a:r>
            <a:r>
              <a:rPr lang="en-US" sz="950" dirty="0">
                <a:solidFill>
                  <a:srgbClr val="1E293B"/>
                </a:solidFill>
              </a:rPr>
              <a:t> de la Anthropic </a:t>
            </a:r>
            <a:r>
              <a:rPr lang="en-US" sz="950" dirty="0" err="1">
                <a:solidFill>
                  <a:srgbClr val="1E293B"/>
                </a:solidFill>
              </a:rPr>
              <a:t>este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cunoscută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pentru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siguranță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documente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mai</a:t>
            </a:r>
            <a:r>
              <a:rPr lang="en-US" sz="950" dirty="0">
                <a:solidFill>
                  <a:srgbClr val="1E293B"/>
                </a:solidFill>
              </a:rPr>
              <a:t> lungi </a:t>
            </a:r>
            <a:r>
              <a:rPr lang="en-US" sz="950" dirty="0" err="1">
                <a:solidFill>
                  <a:srgbClr val="1E293B"/>
                </a:solidFill>
              </a:rPr>
              <a:t>și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raționament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nuanțat</a:t>
            </a:r>
            <a:r>
              <a:rPr lang="en-US" sz="950" dirty="0">
                <a:solidFill>
                  <a:srgbClr val="1E293B"/>
                </a:solidFill>
              </a:rPr>
              <a:t>. </a:t>
            </a:r>
            <a:r>
              <a:rPr lang="en-US" sz="950" dirty="0" err="1">
                <a:solidFill>
                  <a:srgbClr val="1E293B"/>
                </a:solidFill>
              </a:rPr>
              <a:t>Excelentă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pentru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planificarea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lecțiilor</a:t>
            </a:r>
            <a:r>
              <a:rPr lang="en-US" sz="950" dirty="0">
                <a:solidFill>
                  <a:srgbClr val="1E293B"/>
                </a:solidFill>
              </a:rPr>
              <a:t>, feedback </a:t>
            </a:r>
            <a:r>
              <a:rPr lang="en-US" sz="950" dirty="0" err="1">
                <a:solidFill>
                  <a:srgbClr val="1E293B"/>
                </a:solidFill>
              </a:rPr>
              <a:t>pentru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eseuri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și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asistență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în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cercetare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09160" y="3566160"/>
            <a:ext cx="42976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4709160" y="3566160"/>
            <a:ext cx="64008" cy="109728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/>
          <p:nvPr/>
        </p:nvSpPr>
        <p:spPr>
          <a:xfrm>
            <a:off x="489204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</a:rPr>
              <a:t>AI in Classrooms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92040" y="39319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UNESCO </a:t>
            </a:r>
            <a:r>
              <a:rPr lang="en-US" sz="950" dirty="0" err="1">
                <a:solidFill>
                  <a:srgbClr val="1E293B"/>
                </a:solidFill>
              </a:rPr>
              <a:t>raportează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că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peste</a:t>
            </a:r>
            <a:r>
              <a:rPr lang="en-US" sz="950" dirty="0">
                <a:solidFill>
                  <a:srgbClr val="1E293B"/>
                </a:solidFill>
              </a:rPr>
              <a:t> 40 de </a:t>
            </a:r>
            <a:r>
              <a:rPr lang="en-US" sz="950" dirty="0" err="1">
                <a:solidFill>
                  <a:srgbClr val="1E293B"/>
                </a:solidFill>
              </a:rPr>
              <a:t>țări</a:t>
            </a:r>
            <a:r>
              <a:rPr lang="en-US" sz="950" dirty="0">
                <a:solidFill>
                  <a:srgbClr val="1E293B"/>
                </a:solidFill>
              </a:rPr>
              <a:t> au </a:t>
            </a:r>
            <a:r>
              <a:rPr lang="en-US" sz="950" dirty="0" err="1">
                <a:solidFill>
                  <a:srgbClr val="1E293B"/>
                </a:solidFill>
              </a:rPr>
              <a:t>lansat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deja</a:t>
            </a:r>
            <a:r>
              <a:rPr lang="en-US" sz="950" dirty="0">
                <a:solidFill>
                  <a:srgbClr val="1E293B"/>
                </a:solidFill>
              </a:rPr>
              <a:t> cadre </a:t>
            </a:r>
            <a:r>
              <a:rPr lang="en-US" sz="950" dirty="0" err="1">
                <a:solidFill>
                  <a:srgbClr val="1E293B"/>
                </a:solidFill>
              </a:rPr>
              <a:t>naționale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pentru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ro-MD" sz="950" dirty="0">
                <a:solidFill>
                  <a:srgbClr val="1E293B"/>
                </a:solidFill>
              </a:rPr>
              <a:t>IA </a:t>
            </a:r>
            <a:r>
              <a:rPr lang="en-US" sz="950" dirty="0" err="1">
                <a:solidFill>
                  <a:srgbClr val="1E293B"/>
                </a:solidFill>
              </a:rPr>
              <a:t>în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educație</a:t>
            </a:r>
            <a:r>
              <a:rPr lang="en-US" sz="950" dirty="0">
                <a:solidFill>
                  <a:srgbClr val="1E293B"/>
                </a:solidFill>
              </a:rPr>
              <a:t>. </a:t>
            </a:r>
            <a:r>
              <a:rPr lang="en-US" sz="950" dirty="0" err="1">
                <a:solidFill>
                  <a:srgbClr val="1E293B"/>
                </a:solidFill>
              </a:rPr>
              <a:t>Învățarea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personalizată</a:t>
            </a:r>
            <a:r>
              <a:rPr lang="en-US" sz="950" dirty="0">
                <a:solidFill>
                  <a:srgbClr val="1E293B"/>
                </a:solidFill>
              </a:rPr>
              <a:t> la </a:t>
            </a:r>
            <a:r>
              <a:rPr lang="en-US" sz="950" dirty="0" err="1">
                <a:solidFill>
                  <a:srgbClr val="1E293B"/>
                </a:solidFill>
              </a:rPr>
              <a:t>scară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largă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devine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realitate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CHANGED EDUCATION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E7FF"/>
                </a:solidFill>
              </a:rPr>
              <a:t>04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CD1A0AA-7D83-A404-A429-89A8407419D2}"/>
              </a:ext>
            </a:extLst>
          </p:cNvPr>
          <p:cNvSpPr/>
          <p:nvPr/>
        </p:nvSpPr>
        <p:spPr>
          <a:xfrm>
            <a:off x="592183" y="937187"/>
            <a:ext cx="7820297" cy="320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chemeClr val="bg1"/>
                </a:solidFill>
              </a:rPr>
              <a:t>Misiunea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Profesorului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26" name="Схема 25">
            <a:extLst>
              <a:ext uri="{FF2B5EF4-FFF2-40B4-BE49-F238E27FC236}">
                <a16:creationId xmlns:a16="http://schemas.microsoft.com/office/drawing/2014/main" id="{2B9B9C41-A8C8-9270-6190-EC1502B2C2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181980"/>
              </p:ext>
            </p:extLst>
          </p:nvPr>
        </p:nvGraphicFramePr>
        <p:xfrm>
          <a:off x="692332" y="1509486"/>
          <a:ext cx="8085909" cy="3258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42C42-F8AE-48AE-138D-568B7FAE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6CF430B0-DF0A-A40F-105E-9194C771EE19}"/>
              </a:ext>
            </a:extLst>
          </p:cNvPr>
          <p:cNvSpPr/>
          <p:nvPr/>
        </p:nvSpPr>
        <p:spPr>
          <a:xfrm>
            <a:off x="319313" y="1449978"/>
            <a:ext cx="8596087" cy="240879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6002BA6-50F9-8B43-4704-48A7FD9A2ED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5A9D3ED-5D0F-207F-F15F-1188BA372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653A91B-A927-0FA8-C714-72C64EF8BE8E}"/>
              </a:ext>
            </a:extLst>
          </p:cNvPr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CHANGED EDUCATION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3C2A4C8-2F3B-0BC4-66C9-4DE4A474DBD9}"/>
              </a:ext>
            </a:extLst>
          </p:cNvPr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E7FF"/>
                </a:solidFill>
              </a:rPr>
              <a:t>05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17ED841-9DB2-A592-2921-56C4BDBB70B3}"/>
              </a:ext>
            </a:extLst>
          </p:cNvPr>
          <p:cNvSpPr/>
          <p:nvPr/>
        </p:nvSpPr>
        <p:spPr>
          <a:xfrm>
            <a:off x="592183" y="937187"/>
            <a:ext cx="7820297" cy="320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chemeClr val="bg1"/>
                </a:solidFill>
              </a:rPr>
              <a:t>Motivare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şi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Disciplină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80C0C-F25D-91D4-C0A8-7F1554A30AD6}"/>
              </a:ext>
            </a:extLst>
          </p:cNvPr>
          <p:cNvSpPr txBox="1"/>
          <p:nvPr/>
        </p:nvSpPr>
        <p:spPr>
          <a:xfrm>
            <a:off x="486227" y="1971585"/>
            <a:ext cx="83384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Disciplina</a:t>
            </a:r>
            <a:r>
              <a:rPr lang="en-US" sz="1800" dirty="0">
                <a:solidFill>
                  <a:schemeClr val="bg1"/>
                </a:solidFill>
              </a:rPr>
              <a:t> nu </a:t>
            </a:r>
            <a:r>
              <a:rPr lang="en-US" sz="1800" dirty="0" err="1">
                <a:solidFill>
                  <a:schemeClr val="bg1"/>
                </a:solidFill>
              </a:rPr>
              <a:t>trebuie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impusă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prin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teamă</a:t>
            </a:r>
            <a:r>
              <a:rPr lang="en-US" sz="1800" dirty="0">
                <a:solidFill>
                  <a:schemeClr val="bg1"/>
                </a:solidFill>
              </a:rPr>
              <a:t>, ci </a:t>
            </a:r>
            <a:r>
              <a:rPr lang="en-US" sz="1800" dirty="0" err="1">
                <a:solidFill>
                  <a:schemeClr val="bg1"/>
                </a:solidFill>
              </a:rPr>
              <a:t>cultivată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situații</a:t>
            </a:r>
            <a:r>
              <a:rPr lang="en-US" sz="1800" b="1" dirty="0">
                <a:solidFill>
                  <a:schemeClr val="bg1"/>
                </a:solidFill>
              </a:rPr>
              <a:t> de </a:t>
            </a:r>
            <a:r>
              <a:rPr lang="en-US" sz="1800" b="1" dirty="0" err="1">
                <a:solidFill>
                  <a:schemeClr val="bg1"/>
                </a:solidFill>
              </a:rPr>
              <a:t>succes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Când</a:t>
            </a:r>
            <a:r>
              <a:rPr lang="en-US" sz="1800" dirty="0">
                <a:solidFill>
                  <a:schemeClr val="bg1"/>
                </a:solidFill>
              </a:rPr>
              <a:t> un student </a:t>
            </a:r>
            <a:r>
              <a:rPr lang="en-US" sz="1800" dirty="0" err="1">
                <a:solidFill>
                  <a:schemeClr val="bg1"/>
                </a:solidFill>
              </a:rPr>
              <a:t>experimentează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reușita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dorința</a:t>
            </a:r>
            <a:r>
              <a:rPr lang="en-US" sz="1800" dirty="0">
                <a:solidFill>
                  <a:schemeClr val="bg1"/>
                </a:solidFill>
              </a:rPr>
              <a:t> de a </a:t>
            </a:r>
            <a:r>
              <a:rPr lang="en-US" sz="1800" dirty="0" err="1">
                <a:solidFill>
                  <a:schemeClr val="bg1"/>
                </a:solidFill>
              </a:rPr>
              <a:t>repeta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acea</a:t>
            </a:r>
            <a:r>
              <a:rPr lang="en-US" sz="1800" dirty="0">
                <a:solidFill>
                  <a:schemeClr val="bg1"/>
                </a:solidFill>
              </a:rPr>
              <a:t> stare </a:t>
            </a:r>
            <a:r>
              <a:rPr lang="en-US" sz="1800" dirty="0" err="1">
                <a:solidFill>
                  <a:schemeClr val="bg1"/>
                </a:solidFill>
              </a:rPr>
              <a:t>devine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motorul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disciplinei</a:t>
            </a:r>
            <a:r>
              <a:rPr lang="en-US" sz="1800" dirty="0">
                <a:solidFill>
                  <a:schemeClr val="bg1"/>
                </a:solidFill>
              </a:rPr>
              <a:t> sale.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Situațiile</a:t>
            </a:r>
            <a:r>
              <a:rPr lang="en-US" sz="1800" dirty="0">
                <a:solidFill>
                  <a:schemeClr val="bg1"/>
                </a:solidFill>
              </a:rPr>
              <a:t> de </a:t>
            </a:r>
            <a:r>
              <a:rPr lang="en-US" sz="1800" dirty="0" err="1">
                <a:solidFill>
                  <a:schemeClr val="bg1"/>
                </a:solidFill>
              </a:rPr>
              <a:t>succes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declanşează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eliberarea</a:t>
            </a:r>
            <a:r>
              <a:rPr lang="en-US" sz="1800" dirty="0">
                <a:solidFill>
                  <a:schemeClr val="bg1"/>
                </a:solidFill>
              </a:rPr>
              <a:t> de </a:t>
            </a:r>
            <a:r>
              <a:rPr lang="en-US" sz="1800" dirty="0" err="1">
                <a:solidFill>
                  <a:schemeClr val="bg1"/>
                </a:solidFill>
              </a:rPr>
              <a:t>dopamină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ceea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fortifică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rețelele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neuronale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creşte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motivația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intrinsecă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EF5632AC-FB45-71B7-D43F-7EA49B68B893}"/>
              </a:ext>
            </a:extLst>
          </p:cNvPr>
          <p:cNvSpPr/>
          <p:nvPr/>
        </p:nvSpPr>
        <p:spPr>
          <a:xfrm>
            <a:off x="228600" y="3977640"/>
            <a:ext cx="8686800" cy="8961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05F43009-97C7-0EF9-D74B-B0F084D9FE64}"/>
              </a:ext>
            </a:extLst>
          </p:cNvPr>
          <p:cNvSpPr/>
          <p:nvPr/>
        </p:nvSpPr>
        <p:spPr>
          <a:xfrm>
            <a:off x="228600" y="3977640"/>
            <a:ext cx="64008" cy="89611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85862D06-1C18-924A-6375-9EA31DBCD88B}"/>
              </a:ext>
            </a:extLst>
          </p:cNvPr>
          <p:cNvSpPr/>
          <p:nvPr/>
        </p:nvSpPr>
        <p:spPr>
          <a:xfrm>
            <a:off x="457200" y="406908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“</a:t>
            </a:r>
            <a:r>
              <a:rPr lang="en-US" sz="1600" i="1" dirty="0" err="1">
                <a:solidFill>
                  <a:srgbClr val="FFFFFF"/>
                </a:solidFill>
              </a:rPr>
              <a:t>Educația</a:t>
            </a:r>
            <a:r>
              <a:rPr lang="en-US" sz="1600" i="1" dirty="0">
                <a:solidFill>
                  <a:srgbClr val="FFFFFF"/>
                </a:solidFill>
              </a:rPr>
              <a:t> nu </a:t>
            </a:r>
            <a:r>
              <a:rPr lang="en-US" sz="1600" i="1" dirty="0" err="1">
                <a:solidFill>
                  <a:srgbClr val="FFFFFF"/>
                </a:solidFill>
              </a:rPr>
              <a:t>este</a:t>
            </a:r>
            <a:r>
              <a:rPr lang="en-US" sz="1600" i="1" dirty="0">
                <a:solidFill>
                  <a:srgbClr val="FFFFFF"/>
                </a:solidFill>
              </a:rPr>
              <a:t> </a:t>
            </a:r>
            <a:r>
              <a:rPr lang="en-US" sz="1600" i="1" dirty="0" err="1">
                <a:solidFill>
                  <a:srgbClr val="FFFFFF"/>
                </a:solidFill>
              </a:rPr>
              <a:t>umplerea</a:t>
            </a:r>
            <a:r>
              <a:rPr lang="en-US" sz="1600" i="1" dirty="0">
                <a:solidFill>
                  <a:srgbClr val="FFFFFF"/>
                </a:solidFill>
              </a:rPr>
              <a:t> </a:t>
            </a:r>
            <a:r>
              <a:rPr lang="en-US" sz="1600" i="1" dirty="0" err="1">
                <a:solidFill>
                  <a:srgbClr val="FFFFFF"/>
                </a:solidFill>
              </a:rPr>
              <a:t>unui</a:t>
            </a:r>
            <a:r>
              <a:rPr lang="en-US" sz="1600" i="1" dirty="0">
                <a:solidFill>
                  <a:srgbClr val="FFFFFF"/>
                </a:solidFill>
              </a:rPr>
              <a:t> vas, ci </a:t>
            </a:r>
            <a:r>
              <a:rPr lang="en-US" sz="1600" i="1" dirty="0" err="1">
                <a:solidFill>
                  <a:srgbClr val="FFFFFF"/>
                </a:solidFill>
              </a:rPr>
              <a:t>aprinderea</a:t>
            </a:r>
            <a:r>
              <a:rPr lang="en-US" sz="1600" i="1" dirty="0">
                <a:solidFill>
                  <a:srgbClr val="FFFFFF"/>
                </a:solidFill>
              </a:rPr>
              <a:t> </a:t>
            </a:r>
            <a:r>
              <a:rPr lang="en-US" sz="1600" i="1" dirty="0" err="1">
                <a:solidFill>
                  <a:srgbClr val="FFFFFF"/>
                </a:solidFill>
              </a:rPr>
              <a:t>unui</a:t>
            </a:r>
            <a:r>
              <a:rPr lang="en-US" sz="1600" i="1" dirty="0">
                <a:solidFill>
                  <a:srgbClr val="FFFFFF"/>
                </a:solidFill>
              </a:rPr>
              <a:t> </a:t>
            </a:r>
            <a:r>
              <a:rPr lang="en-US" sz="1600" i="1" dirty="0" err="1">
                <a:solidFill>
                  <a:srgbClr val="FFFFFF"/>
                </a:solidFill>
              </a:rPr>
              <a:t>foc</a:t>
            </a:r>
            <a:r>
              <a:rPr lang="en-US" sz="1600" i="1" dirty="0">
                <a:solidFill>
                  <a:srgbClr val="FFFFFF"/>
                </a:solidFill>
              </a:rPr>
              <a:t>”.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- </a:t>
            </a:r>
            <a:r>
              <a:rPr lang="en-US" sz="1600" i="1" dirty="0" err="1">
                <a:solidFill>
                  <a:srgbClr val="FFFFFF"/>
                </a:solidFill>
              </a:rPr>
              <a:t>Plutarh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1737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7A41F-1717-ED02-1451-20398EE86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F1396C-0660-CECC-DE85-E2AE479DE00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500D1FE-CB06-6646-3CB7-80ECCD7B6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5BCC1F2-67C2-E1EA-58BF-985E9EB3BE70}"/>
              </a:ext>
            </a:extLst>
          </p:cNvPr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AI CHANGED EDUCATION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726F979-4BD0-4498-8795-BA171DA3AC12}"/>
              </a:ext>
            </a:extLst>
          </p:cNvPr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E7FF"/>
                </a:solidFill>
              </a:rPr>
              <a:t>06</a:t>
            </a:r>
            <a:endParaRPr lang="en-US" sz="18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8DB54B9-6302-B723-5BEC-B33F5403D895}"/>
              </a:ext>
            </a:extLst>
          </p:cNvPr>
          <p:cNvSpPr/>
          <p:nvPr/>
        </p:nvSpPr>
        <p:spPr>
          <a:xfrm>
            <a:off x="228600" y="822960"/>
            <a:ext cx="4160520" cy="3657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6BD5E58-BA6A-7C3D-1DA3-1F40A91A1579}"/>
              </a:ext>
            </a:extLst>
          </p:cNvPr>
          <p:cNvSpPr/>
          <p:nvPr/>
        </p:nvSpPr>
        <p:spPr>
          <a:xfrm>
            <a:off x="228600" y="822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</a:rPr>
              <a:t>❌ </a:t>
            </a:r>
            <a:r>
              <a:rPr lang="en-US" sz="1300" b="1" dirty="0">
                <a:solidFill>
                  <a:schemeClr val="bg1"/>
                </a:solidFill>
              </a:rPr>
              <a:t>ÎNAINTE AI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D20F7F5-69DF-65CD-FB66-CCD4E0BCF0DF}"/>
              </a:ext>
            </a:extLst>
          </p:cNvPr>
          <p:cNvSpPr/>
          <p:nvPr/>
        </p:nvSpPr>
        <p:spPr>
          <a:xfrm>
            <a:off x="4754880" y="822960"/>
            <a:ext cx="4160520" cy="3657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9F23626-9825-F5E0-CBA6-339F23DC6E82}"/>
              </a:ext>
            </a:extLst>
          </p:cNvPr>
          <p:cNvSpPr/>
          <p:nvPr/>
        </p:nvSpPr>
        <p:spPr>
          <a:xfrm>
            <a:off x="4754880" y="822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</a:t>
            </a:r>
            <a:r>
              <a:rPr lang="ro-MD" sz="1300" b="1" dirty="0">
                <a:solidFill>
                  <a:srgbClr val="FFFFFF"/>
                </a:solidFill>
              </a:rPr>
              <a:t>CU</a:t>
            </a:r>
            <a:r>
              <a:rPr lang="en-US" sz="1300" b="1" dirty="0">
                <a:solidFill>
                  <a:srgbClr val="FFFFFF"/>
                </a:solidFill>
              </a:rPr>
              <a:t> AI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75DCDBE-15C0-932A-2A66-B70BAFBC2AD9}"/>
              </a:ext>
            </a:extLst>
          </p:cNvPr>
          <p:cNvSpPr/>
          <p:nvPr/>
        </p:nvSpPr>
        <p:spPr>
          <a:xfrm>
            <a:off x="228600" y="1325880"/>
            <a:ext cx="4160520" cy="566928"/>
          </a:xfrm>
          <a:prstGeom prst="rect">
            <a:avLst/>
          </a:prstGeom>
          <a:solidFill>
            <a:srgbClr val="1E2A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98CCE70-9080-679F-FD99-31A5C8383A54}"/>
              </a:ext>
            </a:extLst>
          </p:cNvPr>
          <p:cNvSpPr/>
          <p:nvPr/>
        </p:nvSpPr>
        <p:spPr>
          <a:xfrm>
            <a:off x="365760" y="139903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Un plan de </a:t>
            </a:r>
            <a:r>
              <a:rPr lang="en-US" sz="1100" dirty="0" err="1">
                <a:solidFill>
                  <a:schemeClr val="bg1"/>
                </a:solidFill>
              </a:rPr>
              <a:t>lecție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pentru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toți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elevii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634035B-B37E-C00E-CB8D-73179109FF1B}"/>
              </a:ext>
            </a:extLst>
          </p:cNvPr>
          <p:cNvSpPr/>
          <p:nvPr/>
        </p:nvSpPr>
        <p:spPr>
          <a:xfrm>
            <a:off x="4754880" y="1325880"/>
            <a:ext cx="416052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940FD3C-A9E2-05D5-822D-28665F7BC32A}"/>
              </a:ext>
            </a:extLst>
          </p:cNvPr>
          <p:cNvSpPr/>
          <p:nvPr/>
        </p:nvSpPr>
        <p:spPr>
          <a:xfrm>
            <a:off x="4892040" y="139903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Conținut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personalizat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pentru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nivelul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fiecărui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ro-MD" sz="1100" dirty="0">
                <a:solidFill>
                  <a:schemeClr val="bg1"/>
                </a:solidFill>
              </a:rPr>
              <a:t>elev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076EEF8-3B6F-D955-D0C8-846BF313BB31}"/>
              </a:ext>
            </a:extLst>
          </p:cNvPr>
          <p:cNvSpPr/>
          <p:nvPr/>
        </p:nvSpPr>
        <p:spPr>
          <a:xfrm>
            <a:off x="228600" y="1984248"/>
            <a:ext cx="4160520" cy="566928"/>
          </a:xfrm>
          <a:prstGeom prst="rect">
            <a:avLst/>
          </a:prstGeom>
          <a:solidFill>
            <a:srgbClr val="1E2A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0C4AB67-9B34-4D12-616B-19FB8AEB2B11}"/>
              </a:ext>
            </a:extLst>
          </p:cNvPr>
          <p:cNvSpPr/>
          <p:nvPr/>
        </p:nvSpPr>
        <p:spPr>
          <a:xfrm>
            <a:off x="365760" y="20574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Ore de </a:t>
            </a:r>
            <a:r>
              <a:rPr lang="en-US" sz="1100" dirty="0" err="1">
                <a:solidFill>
                  <a:schemeClr val="bg1"/>
                </a:solidFill>
              </a:rPr>
              <a:t>notare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manuală</a:t>
            </a:r>
            <a:r>
              <a:rPr lang="en-US" sz="1100" dirty="0">
                <a:solidFill>
                  <a:schemeClr val="bg1"/>
                </a:solidFill>
              </a:rPr>
              <a:t> a </a:t>
            </a:r>
            <a:r>
              <a:rPr lang="en-US" sz="1100" dirty="0" err="1">
                <a:solidFill>
                  <a:schemeClr val="bg1"/>
                </a:solidFill>
              </a:rPr>
              <a:t>eseurilor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146B9D5-B04C-2F0E-C4BB-2B0A6D770A24}"/>
              </a:ext>
            </a:extLst>
          </p:cNvPr>
          <p:cNvSpPr/>
          <p:nvPr/>
        </p:nvSpPr>
        <p:spPr>
          <a:xfrm>
            <a:off x="4754880" y="1984248"/>
            <a:ext cx="416052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7466C64-C87B-2C5E-C58D-480F296C3857}"/>
              </a:ext>
            </a:extLst>
          </p:cNvPr>
          <p:cNvSpPr/>
          <p:nvPr/>
        </p:nvSpPr>
        <p:spPr>
          <a:xfrm>
            <a:off x="4892040" y="20574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Feedback </a:t>
            </a:r>
            <a:r>
              <a:rPr lang="en-US" sz="1100" dirty="0" err="1">
                <a:solidFill>
                  <a:schemeClr val="bg1"/>
                </a:solidFill>
              </a:rPr>
              <a:t>instantaneu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prin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ro-MD" sz="1100" dirty="0">
                <a:solidFill>
                  <a:schemeClr val="bg1"/>
                </a:solidFill>
              </a:rPr>
              <a:t>IA </a:t>
            </a:r>
            <a:r>
              <a:rPr lang="en-US" sz="1100" dirty="0" err="1">
                <a:solidFill>
                  <a:schemeClr val="bg1"/>
                </a:solidFill>
              </a:rPr>
              <a:t>asupra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schițelor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în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câteva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secunde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5EA85FD-4AE9-3753-B9BD-C4033332C35E}"/>
              </a:ext>
            </a:extLst>
          </p:cNvPr>
          <p:cNvSpPr/>
          <p:nvPr/>
        </p:nvSpPr>
        <p:spPr>
          <a:xfrm>
            <a:off x="4379323" y="2097895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73AEAE3-F079-9C2A-9A8E-638E71A6CB1E}"/>
              </a:ext>
            </a:extLst>
          </p:cNvPr>
          <p:cNvSpPr/>
          <p:nvPr/>
        </p:nvSpPr>
        <p:spPr>
          <a:xfrm>
            <a:off x="228600" y="2642616"/>
            <a:ext cx="4160520" cy="566928"/>
          </a:xfrm>
          <a:prstGeom prst="rect">
            <a:avLst/>
          </a:prstGeom>
          <a:solidFill>
            <a:srgbClr val="1E2A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543DAF9-320B-1F7E-298D-23B875ECA28F}"/>
              </a:ext>
            </a:extLst>
          </p:cNvPr>
          <p:cNvSpPr/>
          <p:nvPr/>
        </p:nvSpPr>
        <p:spPr>
          <a:xfrm>
            <a:off x="365760" y="271576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Manuale</a:t>
            </a:r>
            <a:r>
              <a:rPr lang="en-US" sz="1100" dirty="0">
                <a:solidFill>
                  <a:schemeClr val="bg1"/>
                </a:solidFill>
              </a:rPr>
              <a:t> statice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B0C2E2D-54EA-1CA7-8743-2C906036C20E}"/>
              </a:ext>
            </a:extLst>
          </p:cNvPr>
          <p:cNvSpPr/>
          <p:nvPr/>
        </p:nvSpPr>
        <p:spPr>
          <a:xfrm>
            <a:off x="4754880" y="2642616"/>
            <a:ext cx="416052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D6B40DF-B2A3-EEC6-2206-184DE88897EE}"/>
              </a:ext>
            </a:extLst>
          </p:cNvPr>
          <p:cNvSpPr/>
          <p:nvPr/>
        </p:nvSpPr>
        <p:spPr>
          <a:xfrm>
            <a:off x="4892040" y="271576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Materiale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didactice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dinamice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și</a:t>
            </a:r>
            <a:r>
              <a:rPr lang="en-US" sz="1100" dirty="0">
                <a:solidFill>
                  <a:schemeClr val="bg1"/>
                </a:solidFill>
              </a:rPr>
              <a:t> interactive, generate de </a:t>
            </a:r>
            <a:r>
              <a:rPr lang="ro-MD" sz="1100" dirty="0">
                <a:solidFill>
                  <a:schemeClr val="bg1"/>
                </a:solidFill>
              </a:rPr>
              <a:t>IA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1A2E36D-0E22-25F9-1F52-342D52BC4391}"/>
              </a:ext>
            </a:extLst>
          </p:cNvPr>
          <p:cNvSpPr/>
          <p:nvPr/>
        </p:nvSpPr>
        <p:spPr>
          <a:xfrm>
            <a:off x="4389120" y="27980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DD15D57-A321-F092-E3D3-9917FF373D21}"/>
              </a:ext>
            </a:extLst>
          </p:cNvPr>
          <p:cNvSpPr/>
          <p:nvPr/>
        </p:nvSpPr>
        <p:spPr>
          <a:xfrm>
            <a:off x="228600" y="3300984"/>
            <a:ext cx="4160520" cy="566928"/>
          </a:xfrm>
          <a:prstGeom prst="rect">
            <a:avLst/>
          </a:prstGeom>
          <a:solidFill>
            <a:srgbClr val="1E2A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A5DA69B-D1D0-B496-3206-F22476186142}"/>
              </a:ext>
            </a:extLst>
          </p:cNvPr>
          <p:cNvSpPr/>
          <p:nvPr/>
        </p:nvSpPr>
        <p:spPr>
          <a:xfrm>
            <a:off x="365760" y="337413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1"/>
                </a:solidFill>
              </a:rPr>
              <a:t>Ajutor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limitat</a:t>
            </a:r>
            <a:r>
              <a:rPr lang="en-US" sz="1100" dirty="0">
                <a:solidFill>
                  <a:schemeClr val="bg1"/>
                </a:solidFill>
              </a:rPr>
              <a:t> la </a:t>
            </a:r>
            <a:r>
              <a:rPr lang="en-US" sz="1100" dirty="0" err="1">
                <a:solidFill>
                  <a:schemeClr val="bg1"/>
                </a:solidFill>
              </a:rPr>
              <a:t>teme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D0E1CD7-64B7-48CB-F481-CFF6690A7E46}"/>
              </a:ext>
            </a:extLst>
          </p:cNvPr>
          <p:cNvSpPr/>
          <p:nvPr/>
        </p:nvSpPr>
        <p:spPr>
          <a:xfrm>
            <a:off x="4754880" y="3300984"/>
            <a:ext cx="416052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42A80E5E-4C9F-EA65-B803-E2774A498680}"/>
              </a:ext>
            </a:extLst>
          </p:cNvPr>
          <p:cNvSpPr/>
          <p:nvPr/>
        </p:nvSpPr>
        <p:spPr>
          <a:xfrm>
            <a:off x="4892040" y="337413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chemeClr val="bg1"/>
                </a:solidFill>
              </a:rPr>
              <a:t>Tutori cu </a:t>
            </a:r>
            <a:r>
              <a:rPr lang="ro-MD" sz="1100" dirty="0">
                <a:solidFill>
                  <a:schemeClr val="bg1"/>
                </a:solidFill>
              </a:rPr>
              <a:t>IA </a:t>
            </a:r>
            <a:r>
              <a:rPr lang="it-IT" sz="1100" dirty="0">
                <a:solidFill>
                  <a:schemeClr val="bg1"/>
                </a:solidFill>
              </a:rPr>
              <a:t>disponibili 24/7 oricând și oriunde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FB1B093F-2153-22F4-B59C-5F5AA090A5A4}"/>
              </a:ext>
            </a:extLst>
          </p:cNvPr>
          <p:cNvSpPr/>
          <p:nvPr/>
        </p:nvSpPr>
        <p:spPr>
          <a:xfrm>
            <a:off x="4389120" y="34564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9908A4D-8C62-58F2-E969-414F024161E6}"/>
              </a:ext>
            </a:extLst>
          </p:cNvPr>
          <p:cNvSpPr/>
          <p:nvPr/>
        </p:nvSpPr>
        <p:spPr>
          <a:xfrm>
            <a:off x="222069" y="3947378"/>
            <a:ext cx="4160520" cy="566928"/>
          </a:xfrm>
          <a:prstGeom prst="rect">
            <a:avLst/>
          </a:prstGeom>
          <a:solidFill>
            <a:srgbClr val="1E2A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C54E913-9120-E5C2-604D-67EB2E957A90}"/>
              </a:ext>
            </a:extLst>
          </p:cNvPr>
          <p:cNvSpPr/>
          <p:nvPr/>
        </p:nvSpPr>
        <p:spPr>
          <a:xfrm>
            <a:off x="365760" y="403250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chemeClr val="bg1"/>
                </a:solidFill>
              </a:rPr>
              <a:t>Diferențiere lentă pentru nevoi speciale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9E5DB118-681A-D34E-DD61-2841A0F468E2}"/>
              </a:ext>
            </a:extLst>
          </p:cNvPr>
          <p:cNvSpPr/>
          <p:nvPr/>
        </p:nvSpPr>
        <p:spPr>
          <a:xfrm>
            <a:off x="4754880" y="3959352"/>
            <a:ext cx="416052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7105A1F0-8618-F815-4A8E-1ECBB3716F82}"/>
              </a:ext>
            </a:extLst>
          </p:cNvPr>
          <p:cNvSpPr/>
          <p:nvPr/>
        </p:nvSpPr>
        <p:spPr>
          <a:xfrm>
            <a:off x="4892040" y="4032504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dirty="0">
                <a:solidFill>
                  <a:schemeClr val="bg1"/>
                </a:solidFill>
              </a:rPr>
              <a:t>Suport adaptativ imediat pentru elevi diverși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0CFFCC23-5A76-7803-F9CF-D5564216AC03}"/>
              </a:ext>
            </a:extLst>
          </p:cNvPr>
          <p:cNvSpPr/>
          <p:nvPr/>
        </p:nvSpPr>
        <p:spPr>
          <a:xfrm>
            <a:off x="4389120" y="4114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43E16BBC-6C74-AD38-49B7-8705C7293CA9}"/>
              </a:ext>
            </a:extLst>
          </p:cNvPr>
          <p:cNvSpPr/>
          <p:nvPr/>
        </p:nvSpPr>
        <p:spPr>
          <a:xfrm>
            <a:off x="4382589" y="1481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931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WRITE PROMPTS CORRECTLY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07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8600" y="777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</a:rPr>
              <a:t>The C·R·A·F·T Formula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" y="1261872"/>
            <a:ext cx="1627632" cy="5486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228600" y="1261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04088" y="13075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28600" y="1810512"/>
            <a:ext cx="1627632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320040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50" dirty="0">
                <a:solidFill>
                  <a:srgbClr val="1E293B"/>
                </a:solidFill>
              </a:rPr>
              <a:t>Cine ești, clasa ta, vârsta elevului, materia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84248" y="1261872"/>
            <a:ext cx="1627632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984248" y="1261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459736" y="13075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984248" y="1810512"/>
            <a:ext cx="1627632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075688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50" dirty="0">
                <a:solidFill>
                  <a:srgbClr val="1E293B"/>
                </a:solidFill>
              </a:rPr>
              <a:t>Spune-i inteligenței artificiale să se comporte ca: „Ești un profesor expert...”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39896" y="1261872"/>
            <a:ext cx="1627632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3739896" y="1261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215384" y="13075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739896" y="1810512"/>
            <a:ext cx="1627632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3831336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Ceea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ro-MD" sz="950" dirty="0">
                <a:solidFill>
                  <a:srgbClr val="1E293B"/>
                </a:solidFill>
              </a:rPr>
              <a:t>de </a:t>
            </a:r>
            <a:r>
              <a:rPr lang="en-US" sz="950" dirty="0" err="1">
                <a:solidFill>
                  <a:srgbClr val="1E293B"/>
                </a:solidFill>
              </a:rPr>
              <a:t>ce</a:t>
            </a:r>
            <a:r>
              <a:rPr lang="en-US" sz="950" dirty="0">
                <a:solidFill>
                  <a:srgbClr val="1E293B"/>
                </a:solidFill>
              </a:rPr>
              <a:t> ai </a:t>
            </a:r>
            <a:r>
              <a:rPr lang="en-US" sz="950" dirty="0" err="1">
                <a:solidFill>
                  <a:srgbClr val="1E293B"/>
                </a:solidFill>
              </a:rPr>
              <a:t>nevoie</a:t>
            </a:r>
            <a:r>
              <a:rPr lang="en-US" sz="950" dirty="0">
                <a:solidFill>
                  <a:srgbClr val="1E293B"/>
                </a:solidFill>
              </a:rPr>
              <a:t> exact: </a:t>
            </a:r>
            <a:r>
              <a:rPr lang="en-US" sz="950" dirty="0" err="1">
                <a:solidFill>
                  <a:srgbClr val="1E293B"/>
                </a:solidFill>
              </a:rPr>
              <a:t>să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creezi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să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explici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să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evaluezi</a:t>
            </a:r>
            <a:r>
              <a:rPr lang="en-US" sz="950" dirty="0">
                <a:solidFill>
                  <a:srgbClr val="1E293B"/>
                </a:solidFill>
              </a:rPr>
              <a:t>...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95544" y="1261872"/>
            <a:ext cx="1627632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5495544" y="1261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971032" y="13075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Format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95544" y="1810512"/>
            <a:ext cx="1627632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/>
          <p:nvPr/>
        </p:nvSpPr>
        <p:spPr>
          <a:xfrm>
            <a:off x="5586984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Listă</a:t>
            </a:r>
            <a:r>
              <a:rPr lang="en-US" sz="950" dirty="0">
                <a:solidFill>
                  <a:srgbClr val="1E293B"/>
                </a:solidFill>
              </a:rPr>
              <a:t> cu </a:t>
            </a:r>
            <a:r>
              <a:rPr lang="en-US" sz="950" dirty="0" err="1">
                <a:solidFill>
                  <a:srgbClr val="1E293B"/>
                </a:solidFill>
              </a:rPr>
              <a:t>puncte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tabel</a:t>
            </a:r>
            <a:r>
              <a:rPr lang="en-US" sz="950" dirty="0">
                <a:solidFill>
                  <a:srgbClr val="1E293B"/>
                </a:solidFill>
              </a:rPr>
              <a:t>, plan de </a:t>
            </a:r>
            <a:r>
              <a:rPr lang="en-US" sz="950" dirty="0" err="1">
                <a:solidFill>
                  <a:srgbClr val="1E293B"/>
                </a:solidFill>
              </a:rPr>
              <a:t>lecție</a:t>
            </a:r>
            <a:r>
              <a:rPr lang="en-US" sz="950" dirty="0">
                <a:solidFill>
                  <a:srgbClr val="1E293B"/>
                </a:solidFill>
              </a:rPr>
              <a:t>, test, </a:t>
            </a:r>
            <a:r>
              <a:rPr lang="en-US" sz="950" dirty="0" err="1">
                <a:solidFill>
                  <a:srgbClr val="1E293B"/>
                </a:solidFill>
              </a:rPr>
              <a:t>poveste</a:t>
            </a:r>
            <a:r>
              <a:rPr lang="en-US" sz="950" dirty="0">
                <a:solidFill>
                  <a:srgbClr val="1E293B"/>
                </a:solidFill>
              </a:rPr>
              <a:t>...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251192" y="1261872"/>
            <a:ext cx="1627632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7251192" y="1261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7726680" y="130759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Tone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251192" y="1810512"/>
            <a:ext cx="1627632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7342632" y="1874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Prietenos</a:t>
            </a:r>
            <a:r>
              <a:rPr lang="en-US" sz="950" dirty="0">
                <a:solidFill>
                  <a:srgbClr val="1E293B"/>
                </a:solidFill>
              </a:rPr>
              <a:t>, formal, </a:t>
            </a:r>
            <a:r>
              <a:rPr lang="en-US" sz="950" dirty="0" err="1">
                <a:solidFill>
                  <a:srgbClr val="1E293B"/>
                </a:solidFill>
              </a:rPr>
              <a:t>simplu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captivant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potrivit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vârstei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28600" y="2926080"/>
            <a:ext cx="868680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320040" y="29443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📝  EXAMPLE PROMPT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28600" y="3200400"/>
            <a:ext cx="8686800" cy="12984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32"/>
          <p:cNvSpPr/>
          <p:nvPr/>
        </p:nvSpPr>
        <p:spPr>
          <a:xfrm>
            <a:off x="228600" y="3200400"/>
            <a:ext cx="54864" cy="12984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/>
          <p:nvPr/>
        </p:nvSpPr>
        <p:spPr>
          <a:xfrm>
            <a:off x="411480" y="3255264"/>
            <a:ext cx="8321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[Context] </a:t>
            </a:r>
            <a:r>
              <a:rPr lang="it-IT" sz="1100" dirty="0"/>
              <a:t>Predau informatica la clasa a X-a, profil real. Elevii cunosc deja bazele algoritmilor de sortare (Bubble Sort, Selection Sort).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endParaRPr lang="ro-MD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[Role] </a:t>
            </a:r>
            <a:r>
              <a:rPr lang="it-IT" sz="1100" dirty="0"/>
              <a:t>Acționează ca un inginer software de la o companie tech de top care explică fundamentele pe înțelesul tuturor.</a:t>
            </a:r>
            <a:r>
              <a:rPr lang="ro-MD" sz="1100" dirty="0"/>
              <a:t> </a:t>
            </a:r>
            <a:endParaRPr lang="ru-RU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[Action] </a:t>
            </a:r>
            <a:r>
              <a:rPr lang="pt-BR" sz="1100" dirty="0">
                <a:solidFill>
                  <a:srgbClr val="1E293B"/>
                </a:solidFill>
              </a:rPr>
              <a:t>Creează un scenariu de lecție interactivă de 20 de minute despre eficiența</a:t>
            </a:r>
            <a:r>
              <a:rPr lang="ro-MD" sz="1100" dirty="0">
                <a:solidFill>
                  <a:srgbClr val="1E293B"/>
                </a:solidFill>
              </a:rPr>
              <a:t>.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[Format] </a:t>
            </a:r>
            <a:r>
              <a:rPr lang="en-US" sz="1100" dirty="0">
                <a:solidFill>
                  <a:srgbClr val="1E293B"/>
                </a:solidFill>
              </a:rPr>
              <a:t>Include: hook </a:t>
            </a:r>
            <a:r>
              <a:rPr lang="en-US" sz="1100" dirty="0" err="1">
                <a:solidFill>
                  <a:srgbClr val="1E293B"/>
                </a:solidFill>
              </a:rPr>
              <a:t>activit</a:t>
            </a:r>
            <a:r>
              <a:rPr lang="ro-MD" sz="1100" dirty="0">
                <a:solidFill>
                  <a:srgbClr val="1E293B"/>
                </a:solidFill>
              </a:rPr>
              <a:t>atea</a:t>
            </a:r>
            <a:r>
              <a:rPr lang="en-US" sz="1100" dirty="0">
                <a:solidFill>
                  <a:srgbClr val="1E293B"/>
                </a:solidFill>
              </a:rPr>
              <a:t>, </a:t>
            </a:r>
            <a:r>
              <a:rPr lang="ro-MD" sz="1100" dirty="0">
                <a:solidFill>
                  <a:srgbClr val="1E293B"/>
                </a:solidFill>
              </a:rPr>
              <a:t>concepte cheie</a:t>
            </a:r>
            <a:r>
              <a:rPr lang="en-US" sz="1100" dirty="0">
                <a:solidFill>
                  <a:srgbClr val="1E293B"/>
                </a:solidFill>
              </a:rPr>
              <a:t>, 3 </a:t>
            </a:r>
            <a:r>
              <a:rPr lang="ro-MD" sz="1100" dirty="0">
                <a:solidFill>
                  <a:srgbClr val="1E293B"/>
                </a:solidFill>
              </a:rPr>
              <a:t>întrebari capcană</a:t>
            </a:r>
            <a:r>
              <a:rPr lang="en-US" sz="1100" dirty="0">
                <a:solidFill>
                  <a:srgbClr val="1E293B"/>
                </a:solidFill>
              </a:rPr>
              <a:t>, </a:t>
            </a:r>
            <a:r>
              <a:rPr lang="ro-MD" sz="1100" dirty="0">
                <a:solidFill>
                  <a:srgbClr val="1E293B"/>
                </a:solidFill>
              </a:rPr>
              <a:t>o provocare</a:t>
            </a:r>
            <a:r>
              <a:rPr lang="en-US" sz="1100" dirty="0">
                <a:solidFill>
                  <a:srgbClr val="1E293B"/>
                </a:solidFill>
              </a:rPr>
              <a:t>. </a:t>
            </a:r>
            <a:endParaRPr lang="ro-MD" sz="11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</a:rPr>
              <a:t>[Tone] </a:t>
            </a:r>
            <a:r>
              <a:rPr lang="it-IT" sz="1100" dirty="0"/>
              <a:t>Provocator, tehnic dar accesibil, entuziast.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8600" y="4617720"/>
            <a:ext cx="2057400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/>
          <p:nvPr/>
        </p:nvSpPr>
        <p:spPr>
          <a:xfrm>
            <a:off x="228600" y="4617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✓ </a:t>
            </a:r>
            <a:r>
              <a:rPr lang="en-US" sz="950" dirty="0" err="1">
                <a:solidFill>
                  <a:srgbClr val="FFFFFF"/>
                </a:solidFill>
              </a:rPr>
              <a:t>Fii</a:t>
            </a:r>
            <a:r>
              <a:rPr lang="en-US" sz="950" dirty="0">
                <a:solidFill>
                  <a:srgbClr val="FFFFFF"/>
                </a:solidFill>
              </a:rPr>
              <a:t> specific, nu </a:t>
            </a:r>
            <a:r>
              <a:rPr lang="ro-MD" sz="950" dirty="0">
                <a:solidFill>
                  <a:srgbClr val="FFFFFF"/>
                </a:solidFill>
              </a:rPr>
              <a:t>contradictoriu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2441448" y="4617720"/>
            <a:ext cx="2057400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/>
          <p:nvPr/>
        </p:nvSpPr>
        <p:spPr>
          <a:xfrm>
            <a:off x="2441448" y="4617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✓  </a:t>
            </a:r>
            <a:r>
              <a:rPr lang="en-US" sz="950" dirty="0" err="1">
                <a:solidFill>
                  <a:srgbClr val="FFFFFF"/>
                </a:solidFill>
              </a:rPr>
              <a:t>Itera</a:t>
            </a:r>
            <a:r>
              <a:rPr lang="ro-MD" sz="950" dirty="0">
                <a:solidFill>
                  <a:srgbClr val="FFFFFF"/>
                </a:solidFill>
              </a:rPr>
              <a:t>ți</a:t>
            </a:r>
            <a:r>
              <a:rPr lang="en-US" sz="950" dirty="0">
                <a:solidFill>
                  <a:srgbClr val="FFFFFF"/>
                </a:solidFill>
              </a:rPr>
              <a:t> &amp; </a:t>
            </a:r>
            <a:r>
              <a:rPr lang="ro-MD" sz="950" dirty="0">
                <a:solidFill>
                  <a:srgbClr val="FFFFFF"/>
                </a:solidFill>
              </a:rPr>
              <a:t>rafinați</a:t>
            </a:r>
            <a:r>
              <a:rPr lang="en-US" sz="950" dirty="0">
                <a:solidFill>
                  <a:srgbClr val="FFFFFF"/>
                </a:solidFill>
              </a:rPr>
              <a:t> prompt</a:t>
            </a:r>
            <a:r>
              <a:rPr lang="ro-MD" sz="950" dirty="0">
                <a:solidFill>
                  <a:srgbClr val="FFFFFF"/>
                </a:solidFill>
              </a:rPr>
              <a:t>-uri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54296" y="4617720"/>
            <a:ext cx="2057400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9"/>
          <p:cNvSpPr/>
          <p:nvPr/>
        </p:nvSpPr>
        <p:spPr>
          <a:xfrm>
            <a:off x="4654296" y="4617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✓ </a:t>
            </a:r>
            <a:r>
              <a:rPr lang="pt-BR" sz="950" dirty="0">
                <a:solidFill>
                  <a:srgbClr val="FFFFFF"/>
                </a:solidFill>
              </a:rPr>
              <a:t>Adăugați exemple pentru a ghida </a:t>
            </a:r>
            <a:r>
              <a:rPr lang="ro-MD" sz="950" dirty="0">
                <a:solidFill>
                  <a:srgbClr val="FFFFFF"/>
                </a:solidFill>
              </a:rPr>
              <a:t>IA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867144" y="4617720"/>
            <a:ext cx="2057400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1"/>
          <p:cNvSpPr/>
          <p:nvPr/>
        </p:nvSpPr>
        <p:spPr>
          <a:xfrm>
            <a:off x="6867144" y="46177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✓  </a:t>
            </a:r>
            <a:r>
              <a:rPr lang="en-US" sz="950" dirty="0" err="1">
                <a:solidFill>
                  <a:srgbClr val="FFFFFF"/>
                </a:solidFill>
              </a:rPr>
              <a:t>Stabiliți</a:t>
            </a:r>
            <a:r>
              <a:rPr lang="en-US" sz="950" dirty="0">
                <a:solidFill>
                  <a:srgbClr val="FFFFFF"/>
                </a:solidFill>
              </a:rPr>
              <a:t> </a:t>
            </a:r>
            <a:r>
              <a:rPr lang="en-US" sz="950" dirty="0" err="1">
                <a:solidFill>
                  <a:srgbClr val="FFFFFF"/>
                </a:solidFill>
              </a:rPr>
              <a:t>constrângeri</a:t>
            </a:r>
            <a:r>
              <a:rPr lang="en-US" sz="950" dirty="0">
                <a:solidFill>
                  <a:srgbClr val="FFFFFF"/>
                </a:solidFill>
              </a:rPr>
              <a:t> </a:t>
            </a:r>
            <a:r>
              <a:rPr lang="en-US" sz="950" dirty="0" err="1">
                <a:solidFill>
                  <a:srgbClr val="FFFFFF"/>
                </a:solidFill>
              </a:rPr>
              <a:t>și</a:t>
            </a:r>
            <a:r>
              <a:rPr lang="en-US" sz="950" dirty="0">
                <a:solidFill>
                  <a:srgbClr val="FFFFFF"/>
                </a:solidFill>
              </a:rPr>
              <a:t> </a:t>
            </a:r>
            <a:r>
              <a:rPr lang="en-US" sz="950" dirty="0" err="1">
                <a:solidFill>
                  <a:srgbClr val="FFFFFF"/>
                </a:solidFill>
              </a:rPr>
              <a:t>limite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FOR EDUCATION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08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82880" y="8046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182880" y="804672"/>
            <a:ext cx="208483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182880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92608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2608" y="1408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OpenAI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" y="16276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</a:rPr>
              <a:t>Cea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mai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populară</a:t>
            </a:r>
            <a:r>
              <a:rPr lang="en-US" sz="900" dirty="0">
                <a:solidFill>
                  <a:schemeClr val="bg1"/>
                </a:solidFill>
              </a:rPr>
              <a:t> IA. </a:t>
            </a:r>
            <a:r>
              <a:rPr lang="en-US" sz="900" dirty="0" err="1">
                <a:solidFill>
                  <a:schemeClr val="bg1"/>
                </a:solidFill>
              </a:rPr>
              <a:t>Excelentă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pentru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planuri</a:t>
            </a:r>
            <a:r>
              <a:rPr lang="en-US" sz="900" dirty="0">
                <a:solidFill>
                  <a:schemeClr val="bg1"/>
                </a:solidFill>
              </a:rPr>
              <a:t> de </a:t>
            </a:r>
            <a:r>
              <a:rPr lang="en-US" sz="900" dirty="0" err="1">
                <a:solidFill>
                  <a:schemeClr val="bg1"/>
                </a:solidFill>
              </a:rPr>
              <a:t>lecții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explicații</a:t>
            </a:r>
            <a:r>
              <a:rPr lang="en-US" sz="900" dirty="0">
                <a:solidFill>
                  <a:schemeClr val="bg1"/>
                </a:solidFill>
              </a:rPr>
              <a:t>, brainstorming </a:t>
            </a:r>
            <a:r>
              <a:rPr lang="en-US" sz="900" dirty="0" err="1">
                <a:solidFill>
                  <a:schemeClr val="bg1"/>
                </a:solidFill>
              </a:rPr>
              <a:t>și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creare</a:t>
            </a:r>
            <a:r>
              <a:rPr lang="en-US" sz="900" dirty="0">
                <a:solidFill>
                  <a:schemeClr val="bg1"/>
                </a:solidFill>
              </a:rPr>
              <a:t> de </a:t>
            </a:r>
            <a:r>
              <a:rPr lang="en-US" sz="900" dirty="0" err="1">
                <a:solidFill>
                  <a:schemeClr val="bg1"/>
                </a:solidFill>
              </a:rPr>
              <a:t>conținut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Shape 9"/>
          <p:cNvSpPr/>
          <p:nvPr/>
        </p:nvSpPr>
        <p:spPr>
          <a:xfrm>
            <a:off x="2395728" y="8046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2395728" y="804672"/>
            <a:ext cx="2084832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2395728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SAFEST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505456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05456" y="1408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Anthropic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05456" y="16276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Ideal </a:t>
            </a:r>
            <a:r>
              <a:rPr lang="en-US" sz="900" dirty="0" err="1">
                <a:solidFill>
                  <a:schemeClr val="bg1"/>
                </a:solidFill>
              </a:rPr>
              <a:t>pentru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documente</a:t>
            </a:r>
            <a:r>
              <a:rPr lang="en-US" sz="900" dirty="0">
                <a:solidFill>
                  <a:schemeClr val="bg1"/>
                </a:solidFill>
              </a:rPr>
              <a:t> lungi, feedback </a:t>
            </a:r>
            <a:r>
              <a:rPr lang="en-US" sz="900" dirty="0" err="1">
                <a:solidFill>
                  <a:schemeClr val="bg1"/>
                </a:solidFill>
              </a:rPr>
              <a:t>pentru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eseuri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raționament</a:t>
            </a:r>
            <a:r>
              <a:rPr lang="en-US" sz="900" dirty="0">
                <a:solidFill>
                  <a:schemeClr val="bg1"/>
                </a:solidFill>
              </a:rPr>
              <a:t> etic </a:t>
            </a:r>
            <a:r>
              <a:rPr lang="en-US" sz="900" dirty="0" err="1">
                <a:solidFill>
                  <a:schemeClr val="bg1"/>
                </a:solidFill>
              </a:rPr>
              <a:t>și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utilizare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în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siguranță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în</a:t>
            </a:r>
            <a:r>
              <a:rPr lang="en-US" sz="900" dirty="0">
                <a:solidFill>
                  <a:schemeClr val="bg1"/>
                </a:solidFill>
              </a:rPr>
              <a:t> sala de </a:t>
            </a:r>
            <a:r>
              <a:rPr lang="en-US" sz="900" dirty="0" err="1">
                <a:solidFill>
                  <a:schemeClr val="bg1"/>
                </a:solidFill>
              </a:rPr>
              <a:t>clasă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4608576" y="8046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4608576" y="804672"/>
            <a:ext cx="2084832" cy="25603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4608576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GOOGLE SUITE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18304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18304" y="1408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Google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6276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</a:rPr>
              <a:t>Integrat</a:t>
            </a:r>
            <a:r>
              <a:rPr lang="en-US" sz="900" dirty="0">
                <a:solidFill>
                  <a:schemeClr val="bg1"/>
                </a:solidFill>
              </a:rPr>
              <a:t> cu Google Workspace. Perfect </a:t>
            </a:r>
            <a:r>
              <a:rPr lang="en-US" sz="900" dirty="0" err="1">
                <a:solidFill>
                  <a:schemeClr val="bg1"/>
                </a:solidFill>
              </a:rPr>
              <a:t>pentru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școlile</a:t>
            </a:r>
            <a:r>
              <a:rPr lang="en-US" sz="900" dirty="0">
                <a:solidFill>
                  <a:schemeClr val="bg1"/>
                </a:solidFill>
              </a:rPr>
              <a:t> care </a:t>
            </a:r>
            <a:r>
              <a:rPr lang="en-US" sz="900" dirty="0" err="1">
                <a:solidFill>
                  <a:schemeClr val="bg1"/>
                </a:solidFill>
              </a:rPr>
              <a:t>folosesc</a:t>
            </a:r>
            <a:r>
              <a:rPr lang="en-US" sz="900" dirty="0">
                <a:solidFill>
                  <a:schemeClr val="bg1"/>
                </a:solidFill>
              </a:rPr>
              <a:t> Google Classroom </a:t>
            </a:r>
            <a:r>
              <a:rPr lang="en-US" sz="900" dirty="0" err="1">
                <a:solidFill>
                  <a:schemeClr val="bg1"/>
                </a:solidFill>
              </a:rPr>
              <a:t>și</a:t>
            </a:r>
            <a:r>
              <a:rPr lang="en-US" sz="900" dirty="0">
                <a:solidFill>
                  <a:schemeClr val="bg1"/>
                </a:solidFill>
              </a:rPr>
              <a:t> Docs.</a:t>
            </a:r>
          </a:p>
        </p:txBody>
      </p:sp>
      <p:sp>
        <p:nvSpPr>
          <p:cNvPr id="24" name="Shape 21"/>
          <p:cNvSpPr/>
          <p:nvPr/>
        </p:nvSpPr>
        <p:spPr>
          <a:xfrm>
            <a:off x="6821424" y="8046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6821424" y="804672"/>
            <a:ext cx="2084832" cy="256032"/>
          </a:xfrm>
          <a:prstGeom prst="rect">
            <a:avLst/>
          </a:prstGeom>
          <a:solidFill>
            <a:srgbClr val="1DA1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/>
          <p:nvPr/>
        </p:nvSpPr>
        <p:spPr>
          <a:xfrm>
            <a:off x="6821424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REAL-TIME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31152" y="10972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Grok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31152" y="1408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xAI (Elon)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31152" y="16276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Date </a:t>
            </a:r>
            <a:r>
              <a:rPr lang="en-US" sz="900" dirty="0" err="1">
                <a:solidFill>
                  <a:schemeClr val="bg1"/>
                </a:solidFill>
              </a:rPr>
              <a:t>ingenioase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în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timp</a:t>
            </a:r>
            <a:r>
              <a:rPr lang="en-US" sz="900" dirty="0">
                <a:solidFill>
                  <a:schemeClr val="bg1"/>
                </a:solidFill>
              </a:rPr>
              <a:t> real, </a:t>
            </a:r>
            <a:r>
              <a:rPr lang="en-US" sz="900" dirty="0" err="1">
                <a:solidFill>
                  <a:schemeClr val="bg1"/>
                </a:solidFill>
              </a:rPr>
              <a:t>prin</a:t>
            </a:r>
            <a:r>
              <a:rPr lang="en-US" sz="900" dirty="0">
                <a:solidFill>
                  <a:schemeClr val="bg1"/>
                </a:solidFill>
              </a:rPr>
              <a:t> X. </a:t>
            </a:r>
            <a:r>
              <a:rPr lang="en-US" sz="900" dirty="0" err="1">
                <a:solidFill>
                  <a:schemeClr val="bg1"/>
                </a:solidFill>
              </a:rPr>
              <a:t>Potrivite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pentru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discuții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și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dezbateri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despre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evenimentele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actuale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0" name="Shape 27"/>
          <p:cNvSpPr/>
          <p:nvPr/>
        </p:nvSpPr>
        <p:spPr>
          <a:xfrm>
            <a:off x="182880" y="28620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8"/>
          <p:cNvSpPr/>
          <p:nvPr/>
        </p:nvSpPr>
        <p:spPr>
          <a:xfrm>
            <a:off x="182880" y="2862072"/>
            <a:ext cx="2084832" cy="2560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/>
          <p:nvPr/>
        </p:nvSpPr>
        <p:spPr>
          <a:xfrm>
            <a:off x="182880" y="28620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LONG DOCS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92608" y="31546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Kimi.ai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92608" y="34655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Moonshot 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92608" y="36850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 err="1">
                <a:solidFill>
                  <a:schemeClr val="bg1"/>
                </a:solidFill>
              </a:rPr>
              <a:t>Gestionează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documente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foarte</a:t>
            </a:r>
            <a:r>
              <a:rPr lang="en-US" sz="900" dirty="0">
                <a:solidFill>
                  <a:schemeClr val="bg1"/>
                </a:solidFill>
              </a:rPr>
              <a:t> lungi (</a:t>
            </a:r>
            <a:r>
              <a:rPr lang="en-US" sz="900" dirty="0" err="1">
                <a:solidFill>
                  <a:schemeClr val="bg1"/>
                </a:solidFill>
              </a:rPr>
              <a:t>până</a:t>
            </a:r>
            <a:r>
              <a:rPr lang="en-US" sz="900" dirty="0">
                <a:solidFill>
                  <a:schemeClr val="bg1"/>
                </a:solidFill>
              </a:rPr>
              <a:t> la 200K de </a:t>
            </a:r>
            <a:r>
              <a:rPr lang="en-US" sz="900" dirty="0" err="1">
                <a:solidFill>
                  <a:schemeClr val="bg1"/>
                </a:solidFill>
              </a:rPr>
              <a:t>jetoane</a:t>
            </a:r>
            <a:r>
              <a:rPr lang="en-US" sz="900" dirty="0">
                <a:solidFill>
                  <a:schemeClr val="bg1"/>
                </a:solidFill>
              </a:rPr>
              <a:t>). </a:t>
            </a:r>
            <a:r>
              <a:rPr lang="en-US" sz="900" dirty="0" err="1">
                <a:solidFill>
                  <a:schemeClr val="bg1"/>
                </a:solidFill>
              </a:rPr>
              <a:t>Excelent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pentru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cercetare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și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înțelegere</a:t>
            </a:r>
            <a:r>
              <a:rPr lang="en-US" sz="900" dirty="0">
                <a:solidFill>
                  <a:schemeClr val="bg1"/>
                </a:solidFill>
              </a:rPr>
              <a:t> text.</a:t>
            </a:r>
          </a:p>
        </p:txBody>
      </p:sp>
      <p:sp>
        <p:nvSpPr>
          <p:cNvPr id="36" name="Shape 33"/>
          <p:cNvSpPr/>
          <p:nvPr/>
        </p:nvSpPr>
        <p:spPr>
          <a:xfrm>
            <a:off x="2395728" y="28620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4"/>
          <p:cNvSpPr/>
          <p:nvPr/>
        </p:nvSpPr>
        <p:spPr>
          <a:xfrm>
            <a:off x="2395728" y="2862072"/>
            <a:ext cx="2084832" cy="25603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/>
          <p:nvPr/>
        </p:nvSpPr>
        <p:spPr>
          <a:xfrm>
            <a:off x="2395728" y="28620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CITED SEARCH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505456" y="31546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Perplexity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2505456" y="34655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Perplexity AI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505456" y="36850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 err="1">
                <a:solidFill>
                  <a:schemeClr val="bg1"/>
                </a:solidFill>
              </a:rPr>
              <a:t>Căutare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bazată</a:t>
            </a:r>
            <a:r>
              <a:rPr lang="en-US" sz="900" dirty="0">
                <a:solidFill>
                  <a:schemeClr val="bg1"/>
                </a:solidFill>
              </a:rPr>
              <a:t> pe </a:t>
            </a:r>
            <a:r>
              <a:rPr lang="en-US" sz="900" dirty="0" err="1">
                <a:solidFill>
                  <a:schemeClr val="bg1"/>
                </a:solidFill>
              </a:rPr>
              <a:t>inteligență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artificială</a:t>
            </a:r>
            <a:r>
              <a:rPr lang="en-US" sz="900" dirty="0">
                <a:solidFill>
                  <a:schemeClr val="bg1"/>
                </a:solidFill>
              </a:rPr>
              <a:t> cu </a:t>
            </a:r>
            <a:r>
              <a:rPr lang="en-US" sz="900" dirty="0" err="1">
                <a:solidFill>
                  <a:schemeClr val="bg1"/>
                </a:solidFill>
              </a:rPr>
              <a:t>citări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în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timp</a:t>
            </a:r>
            <a:r>
              <a:rPr lang="en-US" sz="900" dirty="0">
                <a:solidFill>
                  <a:schemeClr val="bg1"/>
                </a:solidFill>
              </a:rPr>
              <a:t> real. </a:t>
            </a:r>
            <a:r>
              <a:rPr lang="en-US" sz="900" dirty="0" err="1">
                <a:solidFill>
                  <a:schemeClr val="bg1"/>
                </a:solidFill>
              </a:rPr>
              <a:t>Predă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cercetarea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corectă</a:t>
            </a:r>
            <a:r>
              <a:rPr lang="en-US" sz="900" dirty="0">
                <a:solidFill>
                  <a:schemeClr val="bg1"/>
                </a:solidFill>
              </a:rPr>
              <a:t> cu </a:t>
            </a:r>
            <a:r>
              <a:rPr lang="en-US" sz="900" dirty="0" err="1">
                <a:solidFill>
                  <a:schemeClr val="bg1"/>
                </a:solidFill>
              </a:rPr>
              <a:t>ajutorul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surselor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2" name="Shape 39"/>
          <p:cNvSpPr/>
          <p:nvPr/>
        </p:nvSpPr>
        <p:spPr>
          <a:xfrm>
            <a:off x="4608576" y="28620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3" name="Shape 40"/>
          <p:cNvSpPr/>
          <p:nvPr/>
        </p:nvSpPr>
        <p:spPr>
          <a:xfrm>
            <a:off x="4608576" y="2862072"/>
            <a:ext cx="2084832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1"/>
          <p:cNvSpPr/>
          <p:nvPr/>
        </p:nvSpPr>
        <p:spPr>
          <a:xfrm>
            <a:off x="4608576" y="28620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YOUR DOCS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718304" y="31546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718304" y="34655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Google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718304" y="36850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 err="1">
                <a:solidFill>
                  <a:schemeClr val="bg1"/>
                </a:solidFill>
              </a:rPr>
              <a:t>Încarcă-ți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propriile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materiale</a:t>
            </a:r>
            <a:r>
              <a:rPr lang="en-US" sz="900" dirty="0">
                <a:solidFill>
                  <a:schemeClr val="bg1"/>
                </a:solidFill>
              </a:rPr>
              <a:t>. </a:t>
            </a:r>
            <a:r>
              <a:rPr lang="en-US" sz="900" dirty="0" err="1">
                <a:solidFill>
                  <a:schemeClr val="bg1"/>
                </a:solidFill>
              </a:rPr>
              <a:t>Inteligența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artificială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devine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expertă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în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manualele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notițele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și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programa</a:t>
            </a:r>
            <a:r>
              <a:rPr lang="en-US" sz="900" dirty="0">
                <a:solidFill>
                  <a:schemeClr val="bg1"/>
                </a:solidFill>
              </a:rPr>
              <a:t> ta </a:t>
            </a:r>
            <a:r>
              <a:rPr lang="en-US" sz="900" dirty="0" err="1">
                <a:solidFill>
                  <a:schemeClr val="bg1"/>
                </a:solidFill>
              </a:rPr>
              <a:t>școlară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8" name="Shape 45"/>
          <p:cNvSpPr/>
          <p:nvPr/>
        </p:nvSpPr>
        <p:spPr>
          <a:xfrm>
            <a:off x="6821424" y="2862072"/>
            <a:ext cx="2084832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9" name="Shape 46"/>
          <p:cNvSpPr/>
          <p:nvPr/>
        </p:nvSpPr>
        <p:spPr>
          <a:xfrm>
            <a:off x="6821424" y="2862072"/>
            <a:ext cx="2084832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0" name="Text 47"/>
          <p:cNvSpPr/>
          <p:nvPr/>
        </p:nvSpPr>
        <p:spPr>
          <a:xfrm>
            <a:off x="6821424" y="28620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PRIVACY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931152" y="31546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z.ai Chat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931152" y="34655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z.ai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931152" y="368503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chemeClr val="bg1"/>
                </a:solidFill>
              </a:rPr>
              <a:t>Chat </a:t>
            </a:r>
            <a:r>
              <a:rPr lang="en-US" sz="900" dirty="0" err="1">
                <a:solidFill>
                  <a:schemeClr val="bg1"/>
                </a:solidFill>
              </a:rPr>
              <a:t>simplu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bazat</a:t>
            </a:r>
            <a:r>
              <a:rPr lang="en-US" sz="900" dirty="0">
                <a:solidFill>
                  <a:schemeClr val="bg1"/>
                </a:solidFill>
              </a:rPr>
              <a:t> pe </a:t>
            </a:r>
            <a:r>
              <a:rPr lang="en-US" sz="900" dirty="0" err="1">
                <a:solidFill>
                  <a:schemeClr val="bg1"/>
                </a:solidFill>
              </a:rPr>
              <a:t>inteligență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artificială</a:t>
            </a:r>
            <a:r>
              <a:rPr lang="en-US" sz="900" dirty="0">
                <a:solidFill>
                  <a:schemeClr val="bg1"/>
                </a:solidFill>
              </a:rPr>
              <a:t>, </a:t>
            </a:r>
            <a:r>
              <a:rPr lang="en-US" sz="900" dirty="0" err="1">
                <a:solidFill>
                  <a:schemeClr val="bg1"/>
                </a:solidFill>
              </a:rPr>
              <a:t>axat</a:t>
            </a:r>
            <a:r>
              <a:rPr lang="en-US" sz="900" dirty="0">
                <a:solidFill>
                  <a:schemeClr val="bg1"/>
                </a:solidFill>
              </a:rPr>
              <a:t> pe </a:t>
            </a:r>
            <a:r>
              <a:rPr lang="en-US" sz="900" dirty="0" err="1">
                <a:solidFill>
                  <a:schemeClr val="bg1"/>
                </a:solidFill>
              </a:rPr>
              <a:t>confidențialitate</a:t>
            </a:r>
            <a:r>
              <a:rPr lang="en-US" sz="900" dirty="0">
                <a:solidFill>
                  <a:schemeClr val="bg1"/>
                </a:solidFill>
              </a:rPr>
              <a:t>. </a:t>
            </a:r>
            <a:r>
              <a:rPr lang="en-US" sz="900" dirty="0" err="1">
                <a:solidFill>
                  <a:schemeClr val="bg1"/>
                </a:solidFill>
              </a:rPr>
              <a:t>Potrivit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pentru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școlile</a:t>
            </a:r>
            <a:r>
              <a:rPr lang="en-US" sz="900" dirty="0">
                <a:solidFill>
                  <a:schemeClr val="bg1"/>
                </a:solidFill>
              </a:rPr>
              <a:t> care </a:t>
            </a:r>
            <a:r>
              <a:rPr lang="en-US" sz="900" dirty="0" err="1">
                <a:solidFill>
                  <a:schemeClr val="bg1"/>
                </a:solidFill>
              </a:rPr>
              <a:t>necesită</a:t>
            </a:r>
            <a:r>
              <a:rPr lang="en-US" sz="900" dirty="0">
                <a:solidFill>
                  <a:schemeClr val="bg1"/>
                </a:solidFill>
              </a:rPr>
              <a:t> o </a:t>
            </a:r>
            <a:r>
              <a:rPr lang="en-US" sz="900" dirty="0" err="1">
                <a:solidFill>
                  <a:schemeClr val="bg1"/>
                </a:solidFill>
              </a:rPr>
              <a:t>păstrare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minimă</a:t>
            </a:r>
            <a:r>
              <a:rPr lang="en-US" sz="900" dirty="0">
                <a:solidFill>
                  <a:schemeClr val="bg1"/>
                </a:solidFill>
              </a:rPr>
              <a:t> a </a:t>
            </a:r>
            <a:r>
              <a:rPr lang="en-US" sz="900" dirty="0" err="1">
                <a:solidFill>
                  <a:schemeClr val="bg1"/>
                </a:solidFill>
              </a:rPr>
              <a:t>datelor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8052A-2EED-E1B3-7B6D-6AC64E54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08D998-D35C-73A1-19BF-D3D5870313A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33EEB6A-3C0D-09AA-A666-F889B2D8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0860B86-7B0B-AD29-A67D-4F39753412CE}"/>
              </a:ext>
            </a:extLst>
          </p:cNvPr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FOR EDUCATION</a:t>
            </a:r>
            <a:endParaRPr lang="en-US" sz="18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AFF83A6-F321-DD2C-9B0A-46E66734FAE7}"/>
              </a:ext>
            </a:extLst>
          </p:cNvPr>
          <p:cNvSpPr/>
          <p:nvPr/>
        </p:nvSpPr>
        <p:spPr>
          <a:xfrm>
            <a:off x="182880" y="804671"/>
            <a:ext cx="8778240" cy="4133089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7377224-7AB2-7046-01BF-5C974F200B81}"/>
              </a:ext>
            </a:extLst>
          </p:cNvPr>
          <p:cNvSpPr/>
          <p:nvPr/>
        </p:nvSpPr>
        <p:spPr>
          <a:xfrm>
            <a:off x="182880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5022C89-5CD2-D2FD-2D50-1D0EAF94AB82}"/>
              </a:ext>
            </a:extLst>
          </p:cNvPr>
          <p:cNvSpPr/>
          <p:nvPr/>
        </p:nvSpPr>
        <p:spPr>
          <a:xfrm>
            <a:off x="2395728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SAFEST</a:t>
            </a:r>
            <a:endParaRPr lang="en-US" sz="800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F39EC7E6-1890-18F4-E869-171D052CD67F}"/>
              </a:ext>
            </a:extLst>
          </p:cNvPr>
          <p:cNvSpPr/>
          <p:nvPr/>
        </p:nvSpPr>
        <p:spPr>
          <a:xfrm>
            <a:off x="3840480" y="885335"/>
            <a:ext cx="1084218" cy="329183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r>
              <a:rPr lang="en-US" sz="1800" b="1" kern="0" spc="100" dirty="0">
                <a:solidFill>
                  <a:srgbClr val="FFFFFF"/>
                </a:solidFill>
              </a:rPr>
              <a:t>G</a:t>
            </a:r>
            <a:r>
              <a:rPr lang="ro-MD" sz="1800" b="1" kern="0" spc="100" dirty="0">
                <a:solidFill>
                  <a:srgbClr val="FFFFFF"/>
                </a:solidFill>
              </a:rPr>
              <a:t>OOGLE</a:t>
            </a:r>
            <a:endParaRPr lang="ru-RU" dirty="0"/>
          </a:p>
        </p:txBody>
      </p:sp>
      <p:pic>
        <p:nvPicPr>
          <p:cNvPr id="3078" name="Picture 6" descr="No photo description available.">
            <a:extLst>
              <a:ext uri="{FF2B5EF4-FFF2-40B4-BE49-F238E27FC236}">
                <a16:creationId xmlns:a16="http://schemas.microsoft.com/office/drawing/2014/main" id="{661B8BAF-4BD2-725D-5796-2447EA4A8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194" y="1295181"/>
            <a:ext cx="6270171" cy="352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73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8AEA6-50E8-E752-AFE6-6C270733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36525B-AFA0-9CBC-5021-14532EB569F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35FD178-DFB5-9486-5D08-0925376F0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CCC21B3-9248-07E9-69AB-BA84026754E8}"/>
              </a:ext>
            </a:extLst>
          </p:cNvPr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FOR EDUCATION</a:t>
            </a:r>
            <a:endParaRPr lang="en-US" sz="18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850FA6D-4284-7534-FB34-1C821142EE56}"/>
              </a:ext>
            </a:extLst>
          </p:cNvPr>
          <p:cNvSpPr/>
          <p:nvPr/>
        </p:nvSpPr>
        <p:spPr>
          <a:xfrm>
            <a:off x="182880" y="804671"/>
            <a:ext cx="8778240" cy="4133089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C17BBBD-EB49-39EF-A980-F7E84F6CDF65}"/>
              </a:ext>
            </a:extLst>
          </p:cNvPr>
          <p:cNvSpPr/>
          <p:nvPr/>
        </p:nvSpPr>
        <p:spPr>
          <a:xfrm>
            <a:off x="182880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246524E-14DF-3ADF-4A7B-AC0DC1EA8BDF}"/>
              </a:ext>
            </a:extLst>
          </p:cNvPr>
          <p:cNvSpPr/>
          <p:nvPr/>
        </p:nvSpPr>
        <p:spPr>
          <a:xfrm>
            <a:off x="2395728" y="804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E293B"/>
                </a:solidFill>
              </a:rPr>
              <a:t>SAFEST</a:t>
            </a:r>
            <a:endParaRPr lang="en-US" sz="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56EB0D-2806-A7CF-A084-542434EFD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45" y="855153"/>
            <a:ext cx="6437310" cy="40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1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CREATE AN INTERACTIVE LESSON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09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82880" y="80467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292608" y="91440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292608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F46E5"/>
                </a:solidFill>
              </a:rPr>
              <a:t>Definiți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obiectivele</a:t>
            </a:r>
            <a:r>
              <a:rPr lang="en-US" sz="1200" b="1" dirty="0">
                <a:solidFill>
                  <a:srgbClr val="4F46E5"/>
                </a:solidFill>
              </a:rPr>
              <a:t> de </a:t>
            </a:r>
            <a:r>
              <a:rPr lang="en-US" sz="1200" b="1" dirty="0" err="1">
                <a:solidFill>
                  <a:srgbClr val="4F46E5"/>
                </a:solidFill>
              </a:rPr>
              <a:t>învățare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1883664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00" dirty="0"/>
              <a:t>Generează 3 obiective de învățare măsurabile pentru elevii de clasa a </a:t>
            </a:r>
            <a:r>
              <a:rPr lang="ro-MD" sz="1000" dirty="0"/>
              <a:t>X</a:t>
            </a:r>
            <a:r>
              <a:rPr lang="it-IT" sz="1000" dirty="0"/>
              <a:t>-a la disciplina Informatică, în cadrul unității de învățare [Introdu aici tema, ex: Algoritmi/HTML/Robotică].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80467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3282696" y="91440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3282696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10128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F46E5"/>
                </a:solidFill>
              </a:rPr>
              <a:t>Generați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activitate</a:t>
            </a:r>
            <a:r>
              <a:rPr lang="en-US" sz="1200" b="1" dirty="0">
                <a:solidFill>
                  <a:srgbClr val="4F46E5"/>
                </a:solidFill>
              </a:rPr>
              <a:t> hook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0128" y="1883664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Cere o </a:t>
            </a:r>
            <a:r>
              <a:rPr lang="en-US" sz="950" dirty="0" err="1">
                <a:solidFill>
                  <a:srgbClr val="1E293B"/>
                </a:solidFill>
              </a:rPr>
              <a:t>întrebare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provocatoare</a:t>
            </a:r>
            <a:r>
              <a:rPr lang="en-US" sz="950" dirty="0">
                <a:solidFill>
                  <a:srgbClr val="1E293B"/>
                </a:solidFill>
              </a:rPr>
              <a:t> de 5 minute, o </a:t>
            </a:r>
            <a:r>
              <a:rPr lang="en-US" sz="950" dirty="0" err="1">
                <a:solidFill>
                  <a:srgbClr val="1E293B"/>
                </a:solidFill>
              </a:rPr>
              <a:t>analiză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en-US" sz="950" dirty="0" err="1">
                <a:solidFill>
                  <a:srgbClr val="1E293B"/>
                </a:solidFill>
              </a:rPr>
              <a:t>imagini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sau</a:t>
            </a:r>
            <a:r>
              <a:rPr lang="en-US" sz="950" dirty="0">
                <a:solidFill>
                  <a:srgbClr val="1E293B"/>
                </a:solidFill>
              </a:rPr>
              <a:t> un mister care </a:t>
            </a:r>
            <a:r>
              <a:rPr lang="en-US" sz="950" dirty="0" err="1">
                <a:solidFill>
                  <a:srgbClr val="1E293B"/>
                </a:solidFill>
              </a:rPr>
              <a:t>să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activeze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cunoștințele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anterioare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63056" y="80467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6272784" y="91440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6272784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00216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F46E5"/>
                </a:solidFill>
              </a:rPr>
              <a:t>Creați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conținut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diferențiat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00216" y="1883664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Solicitați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același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conținut</a:t>
            </a:r>
            <a:r>
              <a:rPr lang="en-US" sz="950" dirty="0">
                <a:solidFill>
                  <a:srgbClr val="1E293B"/>
                </a:solidFill>
              </a:rPr>
              <a:t> la 3 </a:t>
            </a:r>
            <a:r>
              <a:rPr lang="en-US" sz="950" dirty="0" err="1">
                <a:solidFill>
                  <a:srgbClr val="1E293B"/>
                </a:solidFill>
              </a:rPr>
              <a:t>niveluri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en-US" sz="950" dirty="0" err="1">
                <a:solidFill>
                  <a:srgbClr val="1E293B"/>
                </a:solidFill>
              </a:rPr>
              <a:t>citire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sau</a:t>
            </a:r>
            <a:r>
              <a:rPr lang="en-US" sz="950" dirty="0">
                <a:solidFill>
                  <a:srgbClr val="1E293B"/>
                </a:solidFill>
              </a:rPr>
              <a:t> cu </a:t>
            </a:r>
            <a:r>
              <a:rPr lang="en-US" sz="950" dirty="0" err="1">
                <a:solidFill>
                  <a:srgbClr val="1E293B"/>
                </a:solidFill>
              </a:rPr>
              <a:t>materiale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vizuale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pentru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diferite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tipuri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ro-MD" sz="950" dirty="0">
                <a:solidFill>
                  <a:srgbClr val="1E293B"/>
                </a:solidFill>
              </a:rPr>
              <a:t>elevi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82880" y="281635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292608" y="292608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292608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2004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F46E5"/>
                </a:solidFill>
              </a:rPr>
              <a:t>Proiectarea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sarcinilor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colaborative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0040" y="3895344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Folosește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inteligența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artificială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pentru</a:t>
            </a:r>
            <a:r>
              <a:rPr lang="en-US" sz="950" dirty="0">
                <a:solidFill>
                  <a:srgbClr val="1E293B"/>
                </a:solidFill>
              </a:rPr>
              <a:t> a </a:t>
            </a:r>
            <a:r>
              <a:rPr lang="en-US" sz="950" dirty="0" err="1">
                <a:solidFill>
                  <a:srgbClr val="1E293B"/>
                </a:solidFill>
              </a:rPr>
              <a:t>crea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provocări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en-US" sz="950" dirty="0" err="1">
                <a:solidFill>
                  <a:srgbClr val="1E293B"/>
                </a:solidFill>
              </a:rPr>
              <a:t>grup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întrebări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socratice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sau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teme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en-US" sz="950" dirty="0" err="1">
                <a:solidFill>
                  <a:srgbClr val="1E293B"/>
                </a:solidFill>
              </a:rPr>
              <a:t>lectură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172968" y="281635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3282696" y="292608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3282696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310128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F46E5"/>
                </a:solidFill>
              </a:rPr>
              <a:t>Construiți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evaluarea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formativă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310128" y="3895344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Generați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tichete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en-US" sz="950" dirty="0" err="1">
                <a:solidFill>
                  <a:srgbClr val="1E293B"/>
                </a:solidFill>
              </a:rPr>
              <a:t>ieșire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sondaje</a:t>
            </a:r>
            <a:r>
              <a:rPr lang="en-US" sz="950" dirty="0">
                <a:solidFill>
                  <a:srgbClr val="1E293B"/>
                </a:solidFill>
              </a:rPr>
              <a:t>, </a:t>
            </a:r>
            <a:r>
              <a:rPr lang="en-US" sz="950" dirty="0" err="1">
                <a:solidFill>
                  <a:srgbClr val="1E293B"/>
                </a:solidFill>
              </a:rPr>
              <a:t>reflecții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sau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întrebări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rapide</a:t>
            </a:r>
            <a:r>
              <a:rPr lang="en-US" sz="950" dirty="0">
                <a:solidFill>
                  <a:srgbClr val="1E293B"/>
                </a:solidFill>
              </a:rPr>
              <a:t> de tip test </a:t>
            </a:r>
            <a:r>
              <a:rPr lang="en-US" sz="950" dirty="0" err="1">
                <a:solidFill>
                  <a:srgbClr val="1E293B"/>
                </a:solidFill>
              </a:rPr>
              <a:t>pentru</a:t>
            </a:r>
            <a:r>
              <a:rPr lang="en-US" sz="950" dirty="0">
                <a:solidFill>
                  <a:srgbClr val="1E293B"/>
                </a:solidFill>
              </a:rPr>
              <a:t> a </a:t>
            </a:r>
            <a:r>
              <a:rPr lang="en-US" sz="950" dirty="0" err="1">
                <a:solidFill>
                  <a:srgbClr val="1E293B"/>
                </a:solidFill>
              </a:rPr>
              <a:t>verifica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înțelegerea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163056" y="281635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29"/>
          <p:cNvSpPr/>
          <p:nvPr/>
        </p:nvSpPr>
        <p:spPr>
          <a:xfrm>
            <a:off x="6272784" y="292608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6272784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00216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4F46E5"/>
                </a:solidFill>
              </a:rPr>
              <a:t>Adăugați</a:t>
            </a: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200" b="1" dirty="0" err="1">
                <a:solidFill>
                  <a:srgbClr val="4F46E5"/>
                </a:solidFill>
              </a:rPr>
              <a:t>elemente</a:t>
            </a:r>
            <a:r>
              <a:rPr lang="en-US" sz="1200" b="1" dirty="0">
                <a:solidFill>
                  <a:srgbClr val="4F46E5"/>
                </a:solidFill>
              </a:rPr>
              <a:t> de </a:t>
            </a:r>
            <a:r>
              <a:rPr lang="en-US" sz="1200" b="1" dirty="0" err="1">
                <a:solidFill>
                  <a:srgbClr val="4F46E5"/>
                </a:solidFill>
              </a:rPr>
              <a:t>gamificare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00216" y="3895344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MD" sz="950" dirty="0">
                <a:solidFill>
                  <a:srgbClr val="1E293B"/>
                </a:solidFill>
              </a:rPr>
              <a:t>Cere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ro-MD" sz="950" dirty="0">
                <a:solidFill>
                  <a:srgbClr val="1E293B"/>
                </a:solidFill>
              </a:rPr>
              <a:t>IA </a:t>
            </a:r>
            <a:r>
              <a:rPr lang="en-US" sz="950" dirty="0" err="1">
                <a:solidFill>
                  <a:srgbClr val="1E293B"/>
                </a:solidFill>
              </a:rPr>
              <a:t>să-ți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transforme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lecția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într</a:t>
            </a:r>
            <a:r>
              <a:rPr lang="en-US" sz="950" dirty="0">
                <a:solidFill>
                  <a:srgbClr val="1E293B"/>
                </a:solidFill>
              </a:rPr>
              <a:t>-o </a:t>
            </a:r>
            <a:r>
              <a:rPr lang="en-US" sz="950" dirty="0" err="1">
                <a:solidFill>
                  <a:srgbClr val="1E293B"/>
                </a:solidFill>
              </a:rPr>
              <a:t>misiune</a:t>
            </a:r>
            <a:r>
              <a:rPr lang="en-US" sz="950" dirty="0">
                <a:solidFill>
                  <a:srgbClr val="1E293B"/>
                </a:solidFill>
              </a:rPr>
              <a:t>, un </a:t>
            </a:r>
            <a:r>
              <a:rPr lang="en-US" sz="950" dirty="0" err="1">
                <a:solidFill>
                  <a:srgbClr val="1E293B"/>
                </a:solidFill>
              </a:rPr>
              <a:t>joc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misterios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sau</a:t>
            </a:r>
            <a:r>
              <a:rPr lang="en-US" sz="950" dirty="0">
                <a:solidFill>
                  <a:srgbClr val="1E293B"/>
                </a:solidFill>
              </a:rPr>
              <a:t> un </a:t>
            </a:r>
            <a:r>
              <a:rPr lang="en-US" sz="950" dirty="0" err="1">
                <a:solidFill>
                  <a:srgbClr val="1E293B"/>
                </a:solidFill>
              </a:rPr>
              <a:t>sistem</a:t>
            </a:r>
            <a:r>
              <a:rPr lang="en-US" sz="950" dirty="0">
                <a:solidFill>
                  <a:srgbClr val="1E293B"/>
                </a:solidFill>
              </a:rPr>
              <a:t> de </a:t>
            </a:r>
            <a:r>
              <a:rPr lang="en-US" sz="950" dirty="0" err="1">
                <a:solidFill>
                  <a:srgbClr val="1E293B"/>
                </a:solidFill>
              </a:rPr>
              <a:t>provocări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bazat</a:t>
            </a:r>
            <a:r>
              <a:rPr lang="en-US" sz="950" dirty="0">
                <a:solidFill>
                  <a:srgbClr val="1E293B"/>
                </a:solidFill>
              </a:rPr>
              <a:t> pe </a:t>
            </a:r>
            <a:r>
              <a:rPr lang="en-US" sz="950" dirty="0" err="1">
                <a:solidFill>
                  <a:srgbClr val="1E293B"/>
                </a:solidFill>
              </a:rPr>
              <a:t>puncte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A0586-90BF-CBCA-648B-4EF165DB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1E99FD-F135-A379-AD3C-D63448CD95E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0D5D1BF-5C7A-FF08-025C-E90A8A11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D0788E6-C65D-9264-5E11-C7BEECD17A61}"/>
              </a:ext>
            </a:extLst>
          </p:cNvPr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CREATE AN INTERACTIVE LESSON</a:t>
            </a:r>
            <a:endParaRPr lang="en-US" sz="1800" dirty="0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3E76671-4BCC-92B2-C431-DEE5CF5EC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5528"/>
            <a:ext cx="9144000" cy="41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19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B36A1-0F05-228D-1FDA-BDA463B6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76A5C8-1633-23B8-E5F7-5E1CD7652A8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6D88128-6BCE-777B-D99C-0238F6A32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4F6F38F-E62C-A615-16A7-334388F30CFD}"/>
              </a:ext>
            </a:extLst>
          </p:cNvPr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CREATE AN INTERACTIVE LESSON</a:t>
            </a:r>
            <a:endParaRPr lang="en-US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45D1D4-0BA2-5A80-7B79-5104DD6F6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96" y="987130"/>
            <a:ext cx="5350669" cy="34477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819234E-ADC5-062C-63DC-4113794C9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955" y="987130"/>
            <a:ext cx="4798050" cy="35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35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7FB82-0E85-E7F2-541B-5AE407CC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EE8DAC-735F-329D-9F6E-3D245656068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31EE7EE-E4DE-2C69-0391-02739EA5E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4F4EC69-C5C6-B73C-0048-D0F8085F6AF7}"/>
              </a:ext>
            </a:extLst>
          </p:cNvPr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CREATE AN INTERACTIVE LESSON</a:t>
            </a:r>
            <a:endParaRPr lang="en-US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6A52E8-8FE5-5CEA-7F48-FAE5D7198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953" y="1118330"/>
            <a:ext cx="5825645" cy="324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79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5EAEF-4651-2AA0-4E4F-2CACF98E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021542-C9B4-21C8-4483-97F0A37DA35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BA72349-3745-DF8D-DBAA-30C343B1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A66F200-D707-BE79-6DDF-23C4E8C8517C}"/>
              </a:ext>
            </a:extLst>
          </p:cNvPr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CREATE AN INTERACTIVE LESSON</a:t>
            </a:r>
            <a:endParaRPr lang="en-US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04C3CD-5423-2B61-7AA7-8C1DF300F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31259"/>
            <a:ext cx="5610454" cy="354656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7E49DB-C800-4529-6829-DD0B2B65F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942" y="1031259"/>
            <a:ext cx="3087786" cy="36647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1763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99441-5678-6EF2-345B-4A9C36744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66ECE5-8813-2A7E-8E6F-2F01F93D04F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1AA8A79-5385-EECA-720E-02A6B5B54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D9D27A7-F8D5-AD05-3756-42BCE142E28B}"/>
              </a:ext>
            </a:extLst>
          </p:cNvPr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CREATE AN INTERACTIVE LESSON</a:t>
            </a:r>
            <a:endParaRPr lang="en-US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B6B31B-9140-F3EB-FD3F-AD132A07F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806" y="1781121"/>
            <a:ext cx="5603965" cy="3362379"/>
          </a:xfrm>
          <a:prstGeom prst="rect">
            <a:avLst/>
          </a:prstGeom>
        </p:spPr>
      </p:pic>
      <p:pic>
        <p:nvPicPr>
          <p:cNvPr id="2050" name="Picture 2" descr="Google Gemini | IT | Pepperdine Community">
            <a:extLst>
              <a:ext uri="{FF2B5EF4-FFF2-40B4-BE49-F238E27FC236}">
                <a16:creationId xmlns:a16="http://schemas.microsoft.com/office/drawing/2014/main" id="{1229C0F8-A8FD-B31A-51AC-66B73E484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795" y="662494"/>
            <a:ext cx="6328954" cy="190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694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773D4-13AA-214A-A892-11E5397E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75F1B8-C75C-904B-5BD8-0D9AB255D2B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8A54FE0-8A62-E889-92B5-8E54A208D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6E8F5FF-4A4D-0BAC-1C00-6160866F043E}"/>
              </a:ext>
            </a:extLst>
          </p:cNvPr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CREATE AN INTERACTIVE LESSON</a:t>
            </a:r>
            <a:endParaRPr lang="en-US" sz="1800" dirty="0"/>
          </a:p>
        </p:txBody>
      </p:sp>
      <p:pic>
        <p:nvPicPr>
          <p:cNvPr id="1026" name="Picture 2" descr="App of the Month: Quizlet - Diplomatic Language Services">
            <a:extLst>
              <a:ext uri="{FF2B5EF4-FFF2-40B4-BE49-F238E27FC236}">
                <a16:creationId xmlns:a16="http://schemas.microsoft.com/office/drawing/2014/main" id="{5E1CE424-A0BE-AE64-2741-289064D3A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494064"/>
            <a:ext cx="3759001" cy="25060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izizz is now Wayground | Teacher AI and Resources">
            <a:extLst>
              <a:ext uri="{FF2B5EF4-FFF2-40B4-BE49-F238E27FC236}">
                <a16:creationId xmlns:a16="http://schemas.microsoft.com/office/drawing/2014/main" id="{2CFE01A2-2942-4EFB-0ACF-1BB7E4699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497" y="1494064"/>
            <a:ext cx="4572000" cy="24003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338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DOPAMINE IN CHILDREN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10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" y="804672"/>
            <a:ext cx="8686800" cy="438912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320040" y="82296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⚠️   </a:t>
            </a:r>
            <a:r>
              <a:rPr lang="en-US" sz="1150" b="1" dirty="0" err="1">
                <a:solidFill>
                  <a:srgbClr val="F59E0B"/>
                </a:solidFill>
              </a:rPr>
              <a:t>Sistemele</a:t>
            </a:r>
            <a:r>
              <a:rPr lang="en-US" sz="1150" b="1" dirty="0">
                <a:solidFill>
                  <a:srgbClr val="F59E0B"/>
                </a:solidFill>
              </a:rPr>
              <a:t> de </a:t>
            </a:r>
            <a:r>
              <a:rPr lang="ro-MD" sz="1150" b="1" dirty="0">
                <a:solidFill>
                  <a:srgbClr val="F59E0B"/>
                </a:solidFill>
              </a:rPr>
              <a:t>IA </a:t>
            </a:r>
            <a:r>
              <a:rPr lang="en-US" sz="1150" b="1" dirty="0">
                <a:solidFill>
                  <a:srgbClr val="F59E0B"/>
                </a:solidFill>
              </a:rPr>
              <a:t>sunt </a:t>
            </a:r>
            <a:r>
              <a:rPr lang="en-US" sz="1150" b="1" dirty="0" err="1">
                <a:solidFill>
                  <a:srgbClr val="F59E0B"/>
                </a:solidFill>
              </a:rPr>
              <a:t>concepute</a:t>
            </a:r>
            <a:r>
              <a:rPr lang="en-US" sz="1150" b="1" dirty="0">
                <a:solidFill>
                  <a:srgbClr val="F59E0B"/>
                </a:solidFill>
              </a:rPr>
              <a:t> </a:t>
            </a:r>
            <a:r>
              <a:rPr lang="en-US" sz="1150" b="1" dirty="0" err="1">
                <a:solidFill>
                  <a:srgbClr val="F59E0B"/>
                </a:solidFill>
              </a:rPr>
              <a:t>pentru</a:t>
            </a:r>
            <a:r>
              <a:rPr lang="en-US" sz="1150" b="1" dirty="0">
                <a:solidFill>
                  <a:srgbClr val="F59E0B"/>
                </a:solidFill>
              </a:rPr>
              <a:t> a </a:t>
            </a:r>
            <a:r>
              <a:rPr lang="en-US" sz="1150" b="1" dirty="0" err="1">
                <a:solidFill>
                  <a:srgbClr val="F59E0B"/>
                </a:solidFill>
              </a:rPr>
              <a:t>maximiza</a:t>
            </a:r>
            <a:r>
              <a:rPr lang="en-US" sz="1150" b="1" dirty="0">
                <a:solidFill>
                  <a:srgbClr val="F59E0B"/>
                </a:solidFill>
              </a:rPr>
              <a:t> </a:t>
            </a:r>
            <a:r>
              <a:rPr lang="en-US" sz="1150" b="1" dirty="0" err="1">
                <a:solidFill>
                  <a:srgbClr val="F59E0B"/>
                </a:solidFill>
              </a:rPr>
              <a:t>implicarea</a:t>
            </a:r>
            <a:r>
              <a:rPr lang="en-US" sz="1150" b="1" dirty="0">
                <a:solidFill>
                  <a:srgbClr val="F59E0B"/>
                </a:solidFill>
              </a:rPr>
              <a:t> — </a:t>
            </a:r>
            <a:r>
              <a:rPr lang="en-US" sz="1150" b="1" dirty="0" err="1">
                <a:solidFill>
                  <a:srgbClr val="F59E0B"/>
                </a:solidFill>
              </a:rPr>
              <a:t>acest</a:t>
            </a:r>
            <a:r>
              <a:rPr lang="en-US" sz="1150" b="1" dirty="0">
                <a:solidFill>
                  <a:srgbClr val="F59E0B"/>
                </a:solidFill>
              </a:rPr>
              <a:t> </a:t>
            </a:r>
            <a:r>
              <a:rPr lang="en-US" sz="1150" b="1" dirty="0" err="1">
                <a:solidFill>
                  <a:srgbClr val="F59E0B"/>
                </a:solidFill>
              </a:rPr>
              <a:t>lucru</a:t>
            </a:r>
            <a:r>
              <a:rPr lang="en-US" sz="1150" b="1" dirty="0">
                <a:solidFill>
                  <a:srgbClr val="F59E0B"/>
                </a:solidFill>
              </a:rPr>
              <a:t> </a:t>
            </a:r>
            <a:r>
              <a:rPr lang="en-US" sz="1150" b="1" dirty="0" err="1">
                <a:solidFill>
                  <a:srgbClr val="F59E0B"/>
                </a:solidFill>
              </a:rPr>
              <a:t>afectează</a:t>
            </a:r>
            <a:r>
              <a:rPr lang="en-US" sz="1150" b="1" dirty="0">
                <a:solidFill>
                  <a:srgbClr val="F59E0B"/>
                </a:solidFill>
              </a:rPr>
              <a:t> </a:t>
            </a:r>
            <a:r>
              <a:rPr lang="en-US" sz="1150" b="1" dirty="0" err="1">
                <a:solidFill>
                  <a:srgbClr val="F59E0B"/>
                </a:solidFill>
              </a:rPr>
              <a:t>creierul</a:t>
            </a:r>
            <a:r>
              <a:rPr lang="ro-MD" sz="1150" b="1" dirty="0">
                <a:solidFill>
                  <a:srgbClr val="F59E0B"/>
                </a:solidFill>
              </a:rPr>
              <a:t> elevului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28600" y="1353312"/>
            <a:ext cx="4114800" cy="32004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27432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RISCURI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1764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•  </a:t>
            </a:r>
            <a:r>
              <a:rPr lang="it-IT" sz="1100" dirty="0">
                <a:solidFill>
                  <a:srgbClr val="FCA5A5"/>
                </a:solidFill>
              </a:rPr>
              <a:t>Gratificarea instantanee reduce toleranța la frustrare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22037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•  </a:t>
            </a:r>
            <a:r>
              <a:rPr lang="en-US" sz="1100" dirty="0" err="1">
                <a:solidFill>
                  <a:srgbClr val="FCA5A5"/>
                </a:solidFill>
              </a:rPr>
              <a:t>Răspunsurile</a:t>
            </a:r>
            <a:r>
              <a:rPr lang="en-US" sz="1100" dirty="0">
                <a:solidFill>
                  <a:srgbClr val="FCA5A5"/>
                </a:solidFill>
              </a:rPr>
              <a:t> AI </a:t>
            </a:r>
            <a:r>
              <a:rPr lang="en-US" sz="1100" dirty="0" err="1">
                <a:solidFill>
                  <a:srgbClr val="FCA5A5"/>
                </a:solidFill>
              </a:rPr>
              <a:t>corecte</a:t>
            </a:r>
            <a:r>
              <a:rPr lang="en-US" sz="1100" dirty="0">
                <a:solidFill>
                  <a:srgbClr val="FCA5A5"/>
                </a:solidFill>
              </a:rPr>
              <a:t> </a:t>
            </a:r>
            <a:r>
              <a:rPr lang="en-US" sz="1100" dirty="0" err="1">
                <a:solidFill>
                  <a:srgbClr val="FCA5A5"/>
                </a:solidFill>
              </a:rPr>
              <a:t>descurajează</a:t>
            </a:r>
            <a:r>
              <a:rPr lang="en-US" sz="1100" dirty="0">
                <a:solidFill>
                  <a:srgbClr val="FCA5A5"/>
                </a:solidFill>
              </a:rPr>
              <a:t> </a:t>
            </a:r>
            <a:r>
              <a:rPr lang="en-US" sz="1100" dirty="0" err="1">
                <a:solidFill>
                  <a:srgbClr val="FCA5A5"/>
                </a:solidFill>
              </a:rPr>
              <a:t>efortul</a:t>
            </a:r>
            <a:r>
              <a:rPr lang="en-US" sz="1100" dirty="0">
                <a:solidFill>
                  <a:srgbClr val="FCA5A5"/>
                </a:solidFill>
              </a:rPr>
              <a:t> </a:t>
            </a:r>
            <a:r>
              <a:rPr lang="en-US" sz="1100" dirty="0" err="1">
                <a:solidFill>
                  <a:srgbClr val="FCA5A5"/>
                </a:solidFill>
              </a:rPr>
              <a:t>productiv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26426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•  Infinite AI engagement competes with human connection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3081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• </a:t>
            </a:r>
            <a:r>
              <a:rPr lang="it-IT" sz="1100" dirty="0">
                <a:solidFill>
                  <a:srgbClr val="FCA5A5"/>
                </a:solidFill>
              </a:rPr>
              <a:t>Implicarea infinită a </a:t>
            </a:r>
            <a:r>
              <a:rPr lang="ro-MD" sz="1100" dirty="0">
                <a:solidFill>
                  <a:srgbClr val="FCA5A5"/>
                </a:solidFill>
              </a:rPr>
              <a:t>IA </a:t>
            </a:r>
            <a:r>
              <a:rPr lang="it-IT" sz="1100" dirty="0">
                <a:solidFill>
                  <a:srgbClr val="FCA5A5"/>
                </a:solidFill>
              </a:rPr>
              <a:t>concurează cu conexiunea umană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3520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</a:rPr>
              <a:t>•  </a:t>
            </a:r>
            <a:r>
              <a:rPr lang="en-US" sz="1100" dirty="0" err="1">
                <a:solidFill>
                  <a:srgbClr val="FCA5A5"/>
                </a:solidFill>
              </a:rPr>
              <a:t>Dependență</a:t>
            </a:r>
            <a:r>
              <a:rPr lang="en-US" sz="1100" dirty="0">
                <a:solidFill>
                  <a:srgbClr val="FCA5A5"/>
                </a:solidFill>
              </a:rPr>
              <a:t> de </a:t>
            </a:r>
            <a:r>
              <a:rPr lang="ro-MD" sz="1100" dirty="0">
                <a:solidFill>
                  <a:srgbClr val="FCA5A5"/>
                </a:solidFill>
              </a:rPr>
              <a:t>IA </a:t>
            </a:r>
            <a:r>
              <a:rPr lang="en-US" sz="1100" dirty="0" err="1">
                <a:solidFill>
                  <a:srgbClr val="FCA5A5"/>
                </a:solidFill>
              </a:rPr>
              <a:t>pentru</a:t>
            </a:r>
            <a:r>
              <a:rPr lang="en-US" sz="1100" dirty="0">
                <a:solidFill>
                  <a:srgbClr val="FCA5A5"/>
                </a:solidFill>
              </a:rPr>
              <a:t> </a:t>
            </a:r>
            <a:r>
              <a:rPr lang="en-US" sz="1100" dirty="0" err="1">
                <a:solidFill>
                  <a:srgbClr val="FCA5A5"/>
                </a:solidFill>
              </a:rPr>
              <a:t>sarcini</a:t>
            </a:r>
            <a:r>
              <a:rPr lang="en-US" sz="1100" dirty="0">
                <a:solidFill>
                  <a:srgbClr val="FCA5A5"/>
                </a:solidFill>
              </a:rPr>
              <a:t> simple de </a:t>
            </a:r>
            <a:r>
              <a:rPr lang="en-US" sz="1100" dirty="0" err="1">
                <a:solidFill>
                  <a:srgbClr val="FCA5A5"/>
                </a:solidFill>
              </a:rPr>
              <a:t>reamintire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1353312"/>
            <a:ext cx="41148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4846320" y="1371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🟢  </a:t>
            </a:r>
            <a:r>
              <a:rPr lang="pt-BR" sz="1200" b="1" dirty="0">
                <a:solidFill>
                  <a:srgbClr val="1E293B"/>
                </a:solidFill>
              </a:rPr>
              <a:t>STRATEGII DE UTILIZARE SĂNĂTOASĂ A IA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1764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•  </a:t>
            </a:r>
            <a:r>
              <a:rPr lang="en-US" sz="1100" dirty="0" err="1">
                <a:solidFill>
                  <a:srgbClr val="A7F3D0"/>
                </a:solidFill>
              </a:rPr>
              <a:t>Setați</a:t>
            </a:r>
            <a:r>
              <a:rPr lang="en-US" sz="1100" dirty="0">
                <a:solidFill>
                  <a:srgbClr val="A7F3D0"/>
                </a:solidFill>
              </a:rPr>
              <a:t> zone </a:t>
            </a:r>
            <a:r>
              <a:rPr lang="en-US" sz="1100" dirty="0" err="1">
                <a:solidFill>
                  <a:srgbClr val="A7F3D0"/>
                </a:solidFill>
              </a:rPr>
              <a:t>și</a:t>
            </a:r>
            <a:r>
              <a:rPr lang="en-US" sz="1100" dirty="0">
                <a:solidFill>
                  <a:srgbClr val="A7F3D0"/>
                </a:solidFill>
              </a:rPr>
              <a:t> ore </a:t>
            </a:r>
            <a:r>
              <a:rPr lang="en-US" sz="1100" dirty="0" err="1">
                <a:solidFill>
                  <a:srgbClr val="A7F3D0"/>
                </a:solidFill>
              </a:rPr>
              <a:t>clare</a:t>
            </a:r>
            <a:r>
              <a:rPr lang="en-US" sz="1100" dirty="0">
                <a:solidFill>
                  <a:srgbClr val="A7F3D0"/>
                </a:solidFill>
              </a:rPr>
              <a:t> </a:t>
            </a:r>
            <a:r>
              <a:rPr lang="en-US" sz="1100" dirty="0" err="1">
                <a:solidFill>
                  <a:srgbClr val="A7F3D0"/>
                </a:solidFill>
              </a:rPr>
              <a:t>fără</a:t>
            </a:r>
            <a:r>
              <a:rPr lang="en-US" sz="1100" dirty="0">
                <a:solidFill>
                  <a:srgbClr val="A7F3D0"/>
                </a:solidFill>
              </a:rPr>
              <a:t> </a:t>
            </a:r>
            <a:r>
              <a:rPr lang="en-US" sz="1100" dirty="0" err="1">
                <a:solidFill>
                  <a:srgbClr val="A7F3D0"/>
                </a:solidFill>
              </a:rPr>
              <a:t>inteligență</a:t>
            </a:r>
            <a:r>
              <a:rPr lang="en-US" sz="1100" dirty="0">
                <a:solidFill>
                  <a:srgbClr val="A7F3D0"/>
                </a:solidFill>
              </a:rPr>
              <a:t> </a:t>
            </a:r>
            <a:r>
              <a:rPr lang="en-US" sz="1100" dirty="0" err="1">
                <a:solidFill>
                  <a:srgbClr val="A7F3D0"/>
                </a:solidFill>
              </a:rPr>
              <a:t>artificială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46320" y="22037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•  </a:t>
            </a:r>
            <a:r>
              <a:rPr lang="en-US" sz="1100" dirty="0" err="1">
                <a:solidFill>
                  <a:srgbClr val="A7F3D0"/>
                </a:solidFill>
              </a:rPr>
              <a:t>Predați</a:t>
            </a:r>
            <a:r>
              <a:rPr lang="en-US" sz="1100" dirty="0">
                <a:solidFill>
                  <a:srgbClr val="A7F3D0"/>
                </a:solidFill>
              </a:rPr>
              <a:t> </a:t>
            </a:r>
            <a:r>
              <a:rPr lang="en-US" sz="1100" dirty="0" err="1">
                <a:solidFill>
                  <a:srgbClr val="A7F3D0"/>
                </a:solidFill>
              </a:rPr>
              <a:t>metacogniția</a:t>
            </a:r>
            <a:r>
              <a:rPr lang="en-US" sz="1100" dirty="0">
                <a:solidFill>
                  <a:srgbClr val="A7F3D0"/>
                </a:solidFill>
              </a:rPr>
              <a:t>: „Am </a:t>
            </a:r>
            <a:r>
              <a:rPr lang="en-US" sz="1100" dirty="0" err="1">
                <a:solidFill>
                  <a:srgbClr val="A7F3D0"/>
                </a:solidFill>
              </a:rPr>
              <a:t>gândit</a:t>
            </a:r>
            <a:r>
              <a:rPr lang="en-US" sz="1100" dirty="0">
                <a:solidFill>
                  <a:srgbClr val="A7F3D0"/>
                </a:solidFill>
              </a:rPr>
              <a:t> </a:t>
            </a:r>
            <a:r>
              <a:rPr lang="en-US" sz="1100" dirty="0" err="1">
                <a:solidFill>
                  <a:srgbClr val="A7F3D0"/>
                </a:solidFill>
              </a:rPr>
              <a:t>eu</a:t>
            </a:r>
            <a:r>
              <a:rPr lang="en-US" sz="1100" dirty="0">
                <a:solidFill>
                  <a:srgbClr val="A7F3D0"/>
                </a:solidFill>
              </a:rPr>
              <a:t> </a:t>
            </a:r>
            <a:r>
              <a:rPr lang="en-US" sz="1100" dirty="0" err="1">
                <a:solidFill>
                  <a:srgbClr val="A7F3D0"/>
                </a:solidFill>
              </a:rPr>
              <a:t>primul</a:t>
            </a:r>
            <a:r>
              <a:rPr lang="en-US" sz="1100" dirty="0">
                <a:solidFill>
                  <a:srgbClr val="A7F3D0"/>
                </a:solidFill>
              </a:rPr>
              <a:t>?”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6320" y="26426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•  Use AI as a checker, not a first responder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3081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•  </a:t>
            </a:r>
            <a:r>
              <a:rPr lang="pt-BR" sz="1100" dirty="0">
                <a:solidFill>
                  <a:srgbClr val="A7F3D0"/>
                </a:solidFill>
              </a:rPr>
              <a:t>Folosește IA ca verificator, nu ca prim respondent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3520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</a:rPr>
              <a:t>•  </a:t>
            </a:r>
            <a:r>
              <a:rPr lang="it-IT" sz="1100" dirty="0">
                <a:solidFill>
                  <a:srgbClr val="A7F3D0"/>
                </a:solidFill>
              </a:rPr>
              <a:t>Discutați deschis cu studenții despre limitele </a:t>
            </a:r>
            <a:r>
              <a:rPr lang="ro-MD" sz="1100" dirty="0">
                <a:solidFill>
                  <a:srgbClr val="A7F3D0"/>
                </a:solidFill>
              </a:rPr>
              <a:t>IA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3977640"/>
            <a:ext cx="8686800" cy="8961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228600" y="3977640"/>
            <a:ext cx="64008" cy="8961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457200" y="406908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„</a:t>
            </a:r>
            <a:r>
              <a:rPr lang="en-US" sz="1200" i="1" dirty="0" err="1">
                <a:solidFill>
                  <a:srgbClr val="FFFFFF"/>
                </a:solidFill>
              </a:rPr>
              <a:t>Scopul</a:t>
            </a:r>
            <a:r>
              <a:rPr lang="en-US" sz="1200" i="1" dirty="0">
                <a:solidFill>
                  <a:srgbClr val="FFFFFF"/>
                </a:solidFill>
              </a:rPr>
              <a:t> nu </a:t>
            </a:r>
            <a:r>
              <a:rPr lang="en-US" sz="1200" i="1" dirty="0" err="1">
                <a:solidFill>
                  <a:srgbClr val="FFFFFF"/>
                </a:solidFill>
              </a:rPr>
              <a:t>este</a:t>
            </a:r>
            <a:r>
              <a:rPr lang="en-US" sz="1200" i="1" dirty="0">
                <a:solidFill>
                  <a:srgbClr val="FFFFFF"/>
                </a:solidFill>
              </a:rPr>
              <a:t> de a </a:t>
            </a:r>
            <a:r>
              <a:rPr lang="en-US" sz="1200" i="1" dirty="0" err="1">
                <a:solidFill>
                  <a:srgbClr val="FFFFFF"/>
                </a:solidFill>
              </a:rPr>
              <a:t>evita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tehnologia</a:t>
            </a:r>
            <a:r>
              <a:rPr lang="en-US" sz="1200" i="1" dirty="0">
                <a:solidFill>
                  <a:srgbClr val="FFFFFF"/>
                </a:solidFill>
              </a:rPr>
              <a:t>, ci de a-</a:t>
            </a:r>
            <a:r>
              <a:rPr lang="en-US" sz="1200" i="1" dirty="0" err="1">
                <a:solidFill>
                  <a:srgbClr val="FFFFFF"/>
                </a:solidFill>
              </a:rPr>
              <a:t>i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învăța</a:t>
            </a:r>
            <a:r>
              <a:rPr lang="en-US" sz="1200" i="1" dirty="0">
                <a:solidFill>
                  <a:srgbClr val="FFFFFF"/>
                </a:solidFill>
              </a:rPr>
              <a:t> pe </a:t>
            </a:r>
            <a:r>
              <a:rPr lang="en-US" sz="1200" i="1" dirty="0" err="1">
                <a:solidFill>
                  <a:srgbClr val="FFFFFF"/>
                </a:solidFill>
              </a:rPr>
              <a:t>copii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să</a:t>
            </a:r>
            <a:r>
              <a:rPr lang="en-US" sz="1200" i="1" dirty="0">
                <a:solidFill>
                  <a:srgbClr val="FFFFFF"/>
                </a:solidFill>
              </a:rPr>
              <a:t> fie </a:t>
            </a:r>
            <a:r>
              <a:rPr lang="en-US" sz="1200" i="1" dirty="0" err="1">
                <a:solidFill>
                  <a:srgbClr val="FFFFFF"/>
                </a:solidFill>
              </a:rPr>
              <a:t>autorii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propriei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gândiri</a:t>
            </a:r>
            <a:r>
              <a:rPr lang="en-US" sz="1200" i="1" dirty="0">
                <a:solidFill>
                  <a:srgbClr val="FFFFFF"/>
                </a:solidFill>
              </a:rPr>
              <a:t> - nu </a:t>
            </a:r>
            <a:r>
              <a:rPr lang="en-US" sz="1200" i="1" dirty="0" err="1">
                <a:solidFill>
                  <a:srgbClr val="FFFFFF"/>
                </a:solidFill>
              </a:rPr>
              <a:t>doar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consumatori</a:t>
            </a:r>
            <a:r>
              <a:rPr lang="en-US" sz="1200" i="1" dirty="0">
                <a:solidFill>
                  <a:srgbClr val="FFFFFF"/>
                </a:solidFill>
              </a:rPr>
              <a:t> de date cu </a:t>
            </a:r>
            <a:r>
              <a:rPr lang="en-US" sz="1200" i="1" dirty="0" err="1">
                <a:solidFill>
                  <a:srgbClr val="FFFFFF"/>
                </a:solidFill>
              </a:rPr>
              <a:t>inteligență</a:t>
            </a:r>
            <a:r>
              <a:rPr lang="en-US" sz="1200" i="1" dirty="0">
                <a:solidFill>
                  <a:srgbClr val="FFFFFF"/>
                </a:solidFill>
              </a:rPr>
              <a:t> </a:t>
            </a:r>
            <a:r>
              <a:rPr lang="en-US" sz="1200" i="1" dirty="0" err="1">
                <a:solidFill>
                  <a:srgbClr val="FFFFFF"/>
                </a:solidFill>
              </a:rPr>
              <a:t>artificială</a:t>
            </a:r>
            <a:r>
              <a:rPr lang="en-US" sz="1200" i="1" dirty="0">
                <a:solidFill>
                  <a:srgbClr val="FFFFFF"/>
                </a:solidFill>
              </a:rPr>
              <a:t>.”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ETHICAL CHALLENGES IN AI &amp; EDUCATION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12480" y="109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11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82880" y="822960"/>
            <a:ext cx="2852928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182880" y="822960"/>
            <a:ext cx="2852928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274320" y="932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920240" y="960120"/>
            <a:ext cx="987552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1920240" y="9601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7432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MD" sz="1200" b="1" dirty="0">
                <a:solidFill>
                  <a:srgbClr val="1E293B"/>
                </a:solidFill>
              </a:rPr>
              <a:t>Plagiat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1719072"/>
            <a:ext cx="2670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</a:rPr>
              <a:t>Elevii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prezintă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lucrările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scrise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folosind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inteligența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artificială</a:t>
            </a:r>
            <a:r>
              <a:rPr lang="en-US" sz="950" dirty="0">
                <a:solidFill>
                  <a:srgbClr val="475569"/>
                </a:solidFill>
              </a:rPr>
              <a:t> ca </a:t>
            </a:r>
            <a:r>
              <a:rPr lang="en-US" sz="950" dirty="0" err="1">
                <a:solidFill>
                  <a:srgbClr val="475569"/>
                </a:solidFill>
              </a:rPr>
              <a:t>fiind</a:t>
            </a:r>
            <a:r>
              <a:rPr lang="en-US" sz="950" dirty="0">
                <a:solidFill>
                  <a:srgbClr val="475569"/>
                </a:solidFill>
              </a:rPr>
              <a:t> ale lor. </a:t>
            </a:r>
            <a:r>
              <a:rPr lang="en-US" sz="950" dirty="0" err="1">
                <a:solidFill>
                  <a:srgbClr val="475569"/>
                </a:solidFill>
              </a:rPr>
              <a:t>Școlile</a:t>
            </a:r>
            <a:r>
              <a:rPr lang="en-US" sz="950" dirty="0">
                <a:solidFill>
                  <a:srgbClr val="475569"/>
                </a:solidFill>
              </a:rPr>
              <a:t> au </a:t>
            </a:r>
            <a:r>
              <a:rPr lang="en-US" sz="950" dirty="0" err="1">
                <a:solidFill>
                  <a:srgbClr val="475569"/>
                </a:solidFill>
              </a:rPr>
              <a:t>nevoie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politici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actualizate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integritate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academică</a:t>
            </a:r>
            <a:r>
              <a:rPr lang="en-US" sz="950" dirty="0">
                <a:solidFill>
                  <a:srgbClr val="475569"/>
                </a:solidFill>
              </a:rPr>
              <a:t> care </a:t>
            </a:r>
            <a:r>
              <a:rPr lang="en-US" sz="950" dirty="0" err="1">
                <a:solidFill>
                  <a:srgbClr val="475569"/>
                </a:solidFill>
              </a:rPr>
              <a:t>să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definească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ce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înseamnă</a:t>
            </a:r>
            <a:r>
              <a:rPr lang="en-US" sz="950" dirty="0">
                <a:solidFill>
                  <a:srgbClr val="475569"/>
                </a:solidFill>
              </a:rPr>
              <a:t> „</a:t>
            </a:r>
            <a:r>
              <a:rPr lang="en-US" sz="950" dirty="0" err="1">
                <a:solidFill>
                  <a:srgbClr val="475569"/>
                </a:solidFill>
              </a:rPr>
              <a:t>asistență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bazată</a:t>
            </a:r>
            <a:r>
              <a:rPr lang="en-US" sz="950" dirty="0">
                <a:solidFill>
                  <a:srgbClr val="475569"/>
                </a:solidFill>
              </a:rPr>
              <a:t> pe </a:t>
            </a:r>
            <a:r>
              <a:rPr lang="en-US" sz="950" dirty="0" err="1">
                <a:solidFill>
                  <a:srgbClr val="475569"/>
                </a:solidFill>
              </a:rPr>
              <a:t>inteligență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artificială</a:t>
            </a:r>
            <a:r>
              <a:rPr lang="en-US" sz="950" dirty="0">
                <a:solidFill>
                  <a:srgbClr val="475569"/>
                </a:solidFill>
              </a:rPr>
              <a:t>”.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82112" y="822960"/>
            <a:ext cx="2852928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3182112" y="822960"/>
            <a:ext cx="2852928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3273552" y="932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919472" y="960120"/>
            <a:ext cx="987552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4919472" y="9601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273552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Privacy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73552" y="1719072"/>
            <a:ext cx="2670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</a:rPr>
              <a:t>Instrumentele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inteligență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colectează</a:t>
            </a:r>
            <a:r>
              <a:rPr lang="en-US" sz="950" dirty="0">
                <a:solidFill>
                  <a:srgbClr val="475569"/>
                </a:solidFill>
              </a:rPr>
              <a:t> date </a:t>
            </a:r>
            <a:r>
              <a:rPr lang="en-US" sz="950" dirty="0" err="1">
                <a:solidFill>
                  <a:srgbClr val="475569"/>
                </a:solidFill>
              </a:rPr>
              <a:t>despre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elevi</a:t>
            </a:r>
            <a:r>
              <a:rPr lang="en-US" sz="950" dirty="0">
                <a:solidFill>
                  <a:srgbClr val="475569"/>
                </a:solidFill>
              </a:rPr>
              <a:t>. Se </a:t>
            </a:r>
            <a:r>
              <a:rPr lang="en-US" sz="950" dirty="0" err="1">
                <a:solidFill>
                  <a:srgbClr val="475569"/>
                </a:solidFill>
              </a:rPr>
              <a:t>aplică</a:t>
            </a:r>
            <a:r>
              <a:rPr lang="en-US" sz="950" dirty="0">
                <a:solidFill>
                  <a:srgbClr val="475569"/>
                </a:solidFill>
              </a:rPr>
              <a:t> GDPR, FERPA </a:t>
            </a:r>
            <a:r>
              <a:rPr lang="en-US" sz="950" dirty="0" err="1">
                <a:solidFill>
                  <a:srgbClr val="475569"/>
                </a:solidFill>
              </a:rPr>
              <a:t>și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legile</a:t>
            </a:r>
            <a:r>
              <a:rPr lang="en-US" sz="950" dirty="0">
                <a:solidFill>
                  <a:srgbClr val="475569"/>
                </a:solidFill>
              </a:rPr>
              <a:t> locale. </a:t>
            </a:r>
            <a:r>
              <a:rPr lang="en-US" sz="950" dirty="0" err="1">
                <a:solidFill>
                  <a:srgbClr val="475569"/>
                </a:solidFill>
              </a:rPr>
              <a:t>Verificați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întotdeauna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dacă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instrumentele</a:t>
            </a:r>
            <a:r>
              <a:rPr lang="en-US" sz="950" dirty="0">
                <a:solidFill>
                  <a:srgbClr val="475569"/>
                </a:solidFill>
              </a:rPr>
              <a:t> sunt </a:t>
            </a:r>
            <a:r>
              <a:rPr lang="en-US" sz="950" dirty="0" err="1">
                <a:solidFill>
                  <a:srgbClr val="475569"/>
                </a:solidFill>
              </a:rPr>
              <a:t>conforme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înainte</a:t>
            </a:r>
            <a:r>
              <a:rPr lang="en-US" sz="950" dirty="0">
                <a:solidFill>
                  <a:srgbClr val="475569"/>
                </a:solidFill>
              </a:rPr>
              <a:t> de a </a:t>
            </a:r>
            <a:r>
              <a:rPr lang="en-US" sz="950" dirty="0" err="1">
                <a:solidFill>
                  <a:srgbClr val="475569"/>
                </a:solidFill>
              </a:rPr>
              <a:t>utiliza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informațiile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despre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elevi</a:t>
            </a:r>
            <a:r>
              <a:rPr lang="en-US" sz="950" dirty="0">
                <a:solidFill>
                  <a:srgbClr val="475569"/>
                </a:solidFill>
              </a:rPr>
              <a:t>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1344" y="822960"/>
            <a:ext cx="2852928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6181344" y="822960"/>
            <a:ext cx="2852928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6272784" y="932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918704" y="960120"/>
            <a:ext cx="98755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7918704" y="96012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72784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Bias &amp; Fairness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72784" y="1719072"/>
            <a:ext cx="2670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</a:rPr>
              <a:t>Modelele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inteligență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reflectă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prejudecățile</a:t>
            </a:r>
            <a:r>
              <a:rPr lang="en-US" sz="950" dirty="0">
                <a:solidFill>
                  <a:srgbClr val="475569"/>
                </a:solidFill>
              </a:rPr>
              <a:t> din </a:t>
            </a:r>
            <a:r>
              <a:rPr lang="en-US" sz="950" dirty="0" err="1">
                <a:solidFill>
                  <a:srgbClr val="475569"/>
                </a:solidFill>
              </a:rPr>
              <a:t>datele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antrenament</a:t>
            </a:r>
            <a:r>
              <a:rPr lang="en-US" sz="950" dirty="0">
                <a:solidFill>
                  <a:srgbClr val="475569"/>
                </a:solidFill>
              </a:rPr>
              <a:t>. </a:t>
            </a:r>
            <a:r>
              <a:rPr lang="en-US" sz="950" dirty="0" err="1">
                <a:solidFill>
                  <a:srgbClr val="475569"/>
                </a:solidFill>
              </a:rPr>
              <a:t>Acestea</a:t>
            </a:r>
            <a:r>
              <a:rPr lang="en-US" sz="950" dirty="0">
                <a:solidFill>
                  <a:srgbClr val="475569"/>
                </a:solidFill>
              </a:rPr>
              <a:t> pot </a:t>
            </a:r>
            <a:r>
              <a:rPr lang="en-US" sz="950" dirty="0" err="1">
                <a:solidFill>
                  <a:srgbClr val="475569"/>
                </a:solidFill>
              </a:rPr>
              <a:t>consolida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stereotipurile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sau</a:t>
            </a:r>
            <a:r>
              <a:rPr lang="en-US" sz="950" dirty="0">
                <a:solidFill>
                  <a:srgbClr val="475569"/>
                </a:solidFill>
              </a:rPr>
              <a:t> pot </a:t>
            </a:r>
            <a:r>
              <a:rPr lang="en-US" sz="950" dirty="0" err="1">
                <a:solidFill>
                  <a:srgbClr val="475569"/>
                </a:solidFill>
              </a:rPr>
              <a:t>oferi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răspunsuri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înguste</a:t>
            </a:r>
            <a:r>
              <a:rPr lang="en-US" sz="950" dirty="0">
                <a:solidFill>
                  <a:srgbClr val="475569"/>
                </a:solidFill>
              </a:rPr>
              <a:t> din </a:t>
            </a:r>
            <a:r>
              <a:rPr lang="en-US" sz="950" dirty="0" err="1">
                <a:solidFill>
                  <a:srgbClr val="475569"/>
                </a:solidFill>
              </a:rPr>
              <a:t>punct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vedere</a:t>
            </a:r>
            <a:r>
              <a:rPr lang="en-US" sz="950" dirty="0">
                <a:solidFill>
                  <a:srgbClr val="475569"/>
                </a:solidFill>
              </a:rPr>
              <a:t> cultural. O </a:t>
            </a:r>
            <a:r>
              <a:rPr lang="en-US" sz="950" dirty="0" err="1">
                <a:solidFill>
                  <a:srgbClr val="475569"/>
                </a:solidFill>
              </a:rPr>
              <a:t>analiză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critică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este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esențială</a:t>
            </a:r>
            <a:r>
              <a:rPr lang="en-US" sz="950" dirty="0">
                <a:solidFill>
                  <a:srgbClr val="475569"/>
                </a:solidFill>
              </a:rPr>
              <a:t>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82880" y="2834640"/>
            <a:ext cx="2852928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5"/>
          <p:cNvSpPr/>
          <p:nvPr/>
        </p:nvSpPr>
        <p:spPr>
          <a:xfrm>
            <a:off x="182880" y="2834640"/>
            <a:ext cx="2852928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/>
          <p:nvPr/>
        </p:nvSpPr>
        <p:spPr>
          <a:xfrm>
            <a:off x="274320" y="2944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1920240" y="2971800"/>
            <a:ext cx="98755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1920240" y="2971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74320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Digital Divide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74320" y="3730752"/>
            <a:ext cx="2670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Nu </a:t>
            </a:r>
            <a:r>
              <a:rPr lang="en-US" sz="950" dirty="0" err="1">
                <a:solidFill>
                  <a:srgbClr val="475569"/>
                </a:solidFill>
              </a:rPr>
              <a:t>toți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elevii</a:t>
            </a:r>
            <a:r>
              <a:rPr lang="en-US" sz="950" dirty="0">
                <a:solidFill>
                  <a:srgbClr val="475569"/>
                </a:solidFill>
              </a:rPr>
              <a:t> au </a:t>
            </a:r>
            <a:r>
              <a:rPr lang="en-US" sz="950" dirty="0" err="1">
                <a:solidFill>
                  <a:srgbClr val="475569"/>
                </a:solidFill>
              </a:rPr>
              <a:t>acces</a:t>
            </a:r>
            <a:r>
              <a:rPr lang="en-US" sz="950" dirty="0">
                <a:solidFill>
                  <a:srgbClr val="475569"/>
                </a:solidFill>
              </a:rPr>
              <a:t> egal la </a:t>
            </a:r>
            <a:r>
              <a:rPr lang="en-US" sz="950" dirty="0" err="1">
                <a:solidFill>
                  <a:srgbClr val="475569"/>
                </a:solidFill>
              </a:rPr>
              <a:t>instrumentele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inteligență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artificială</a:t>
            </a:r>
            <a:r>
              <a:rPr lang="en-US" sz="950" dirty="0">
                <a:solidFill>
                  <a:srgbClr val="475569"/>
                </a:solidFill>
              </a:rPr>
              <a:t>. </a:t>
            </a:r>
            <a:r>
              <a:rPr lang="en-US" sz="950" dirty="0" err="1">
                <a:solidFill>
                  <a:srgbClr val="475569"/>
                </a:solidFill>
              </a:rPr>
              <a:t>Școlile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trebuie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asigure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echitatea</a:t>
            </a:r>
            <a:r>
              <a:rPr lang="en-US" sz="950" dirty="0">
                <a:solidFill>
                  <a:srgbClr val="475569"/>
                </a:solidFill>
              </a:rPr>
              <a:t> — </a:t>
            </a:r>
            <a:r>
              <a:rPr lang="en-US" sz="950" dirty="0" err="1">
                <a:solidFill>
                  <a:srgbClr val="475569"/>
                </a:solidFill>
              </a:rPr>
              <a:t>inteligența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artificială</a:t>
            </a:r>
            <a:r>
              <a:rPr lang="en-US" sz="950" dirty="0">
                <a:solidFill>
                  <a:srgbClr val="475569"/>
                </a:solidFill>
              </a:rPr>
              <a:t> nu </a:t>
            </a:r>
            <a:r>
              <a:rPr lang="en-US" sz="950" dirty="0" err="1">
                <a:solidFill>
                  <a:srgbClr val="475569"/>
                </a:solidFill>
              </a:rPr>
              <a:t>ar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trebui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devină</a:t>
            </a:r>
            <a:r>
              <a:rPr lang="en-US" sz="950" dirty="0">
                <a:solidFill>
                  <a:srgbClr val="475569"/>
                </a:solidFill>
              </a:rPr>
              <a:t> un </a:t>
            </a:r>
            <a:r>
              <a:rPr lang="en-US" sz="950" dirty="0" err="1">
                <a:solidFill>
                  <a:srgbClr val="475569"/>
                </a:solidFill>
              </a:rPr>
              <a:t>privilegiu</a:t>
            </a:r>
            <a:r>
              <a:rPr lang="en-US" sz="950" dirty="0">
                <a:solidFill>
                  <a:srgbClr val="475569"/>
                </a:solidFill>
              </a:rPr>
              <a:t> al </a:t>
            </a:r>
            <a:r>
              <a:rPr lang="en-US" sz="950" dirty="0" err="1">
                <a:solidFill>
                  <a:srgbClr val="475569"/>
                </a:solidFill>
              </a:rPr>
              <a:t>celor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bogați</a:t>
            </a:r>
            <a:r>
              <a:rPr lang="en-US" sz="950" dirty="0">
                <a:solidFill>
                  <a:srgbClr val="475569"/>
                </a:solidFill>
              </a:rPr>
              <a:t>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182112" y="2834640"/>
            <a:ext cx="2852928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Shape 32"/>
          <p:cNvSpPr/>
          <p:nvPr/>
        </p:nvSpPr>
        <p:spPr>
          <a:xfrm>
            <a:off x="3182112" y="2834640"/>
            <a:ext cx="2852928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/>
          <p:nvPr/>
        </p:nvSpPr>
        <p:spPr>
          <a:xfrm>
            <a:off x="3273552" y="2944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4919472" y="2971800"/>
            <a:ext cx="987552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/>
          <p:nvPr/>
        </p:nvSpPr>
        <p:spPr>
          <a:xfrm>
            <a:off x="4919472" y="2971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273552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Over-Reliance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273552" y="3730752"/>
            <a:ext cx="2670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</a:rPr>
              <a:t>Elevii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putea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înceta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își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dezvolte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gândirea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critică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dacă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inteligența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oferă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întotdeauna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răspunsuri</a:t>
            </a:r>
            <a:r>
              <a:rPr lang="en-US" sz="950" dirty="0">
                <a:solidFill>
                  <a:srgbClr val="475569"/>
                </a:solidFill>
              </a:rPr>
              <a:t>. </a:t>
            </a:r>
            <a:r>
              <a:rPr lang="en-US" sz="950" dirty="0" err="1">
                <a:solidFill>
                  <a:srgbClr val="475569"/>
                </a:solidFill>
              </a:rPr>
              <a:t>Echilibrați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utilizarea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inteligenței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artificiale</a:t>
            </a:r>
            <a:r>
              <a:rPr lang="en-US" sz="950" dirty="0">
                <a:solidFill>
                  <a:srgbClr val="475569"/>
                </a:solidFill>
              </a:rPr>
              <a:t> cu </a:t>
            </a:r>
            <a:r>
              <a:rPr lang="en-US" sz="950" dirty="0" err="1">
                <a:solidFill>
                  <a:srgbClr val="475569"/>
                </a:solidFill>
              </a:rPr>
              <a:t>sarcini</a:t>
            </a:r>
            <a:r>
              <a:rPr lang="en-US" sz="950" dirty="0">
                <a:solidFill>
                  <a:srgbClr val="475569"/>
                </a:solidFill>
              </a:rPr>
              <a:t> de </a:t>
            </a:r>
            <a:r>
              <a:rPr lang="en-US" sz="950" dirty="0" err="1">
                <a:solidFill>
                  <a:srgbClr val="475569"/>
                </a:solidFill>
              </a:rPr>
              <a:t>rezolvare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independentă</a:t>
            </a:r>
            <a:r>
              <a:rPr lang="en-US" sz="950" dirty="0">
                <a:solidFill>
                  <a:srgbClr val="475569"/>
                </a:solidFill>
              </a:rPr>
              <a:t> a </a:t>
            </a:r>
            <a:r>
              <a:rPr lang="en-US" sz="950" dirty="0" err="1">
                <a:solidFill>
                  <a:srgbClr val="475569"/>
                </a:solidFill>
              </a:rPr>
              <a:t>problemelor</a:t>
            </a:r>
            <a:r>
              <a:rPr lang="en-US" sz="950" dirty="0">
                <a:solidFill>
                  <a:srgbClr val="475569"/>
                </a:solidFill>
              </a:rPr>
              <a:t>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181344" y="2834640"/>
            <a:ext cx="2852928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2" name="Shape 39"/>
          <p:cNvSpPr/>
          <p:nvPr/>
        </p:nvSpPr>
        <p:spPr>
          <a:xfrm>
            <a:off x="6181344" y="2834640"/>
            <a:ext cx="2852928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0"/>
          <p:cNvSpPr/>
          <p:nvPr/>
        </p:nvSpPr>
        <p:spPr>
          <a:xfrm>
            <a:off x="6272784" y="29443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44" name="Shape 41"/>
          <p:cNvSpPr/>
          <p:nvPr/>
        </p:nvSpPr>
        <p:spPr>
          <a:xfrm>
            <a:off x="7918704" y="2971800"/>
            <a:ext cx="987552" cy="25603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2"/>
          <p:cNvSpPr/>
          <p:nvPr/>
        </p:nvSpPr>
        <p:spPr>
          <a:xfrm>
            <a:off x="7918704" y="2971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ALWAYS CHECK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272784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Hallucinations &amp; Truth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272784" y="3730752"/>
            <a:ext cx="2670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IA </a:t>
            </a:r>
            <a:r>
              <a:rPr lang="en-US" sz="950" dirty="0" err="1">
                <a:solidFill>
                  <a:srgbClr val="475569"/>
                </a:solidFill>
              </a:rPr>
              <a:t>generează</a:t>
            </a:r>
            <a:r>
              <a:rPr lang="en-US" sz="950" dirty="0">
                <a:solidFill>
                  <a:srgbClr val="475569"/>
                </a:solidFill>
              </a:rPr>
              <a:t> cu </a:t>
            </a:r>
            <a:r>
              <a:rPr lang="en-US" sz="950" dirty="0" err="1">
                <a:solidFill>
                  <a:srgbClr val="475569"/>
                </a:solidFill>
              </a:rPr>
              <a:t>încredere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informații</a:t>
            </a:r>
            <a:r>
              <a:rPr lang="en-US" sz="950" dirty="0">
                <a:solidFill>
                  <a:srgbClr val="475569"/>
                </a:solidFill>
              </a:rPr>
              <a:t> false. </a:t>
            </a:r>
            <a:r>
              <a:rPr lang="en-US" sz="950" dirty="0" err="1">
                <a:solidFill>
                  <a:srgbClr val="475569"/>
                </a:solidFill>
              </a:rPr>
              <a:t>Studenții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trebuie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învețe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să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verifice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rezultatele</a:t>
            </a:r>
            <a:r>
              <a:rPr lang="en-US" sz="950" dirty="0">
                <a:solidFill>
                  <a:srgbClr val="475569"/>
                </a:solidFill>
              </a:rPr>
              <a:t> IA </a:t>
            </a:r>
            <a:r>
              <a:rPr lang="en-US" sz="950" dirty="0" err="1">
                <a:solidFill>
                  <a:srgbClr val="475569"/>
                </a:solidFill>
              </a:rPr>
              <a:t>folosind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surse</a:t>
            </a:r>
            <a:r>
              <a:rPr lang="en-US" sz="950" dirty="0">
                <a:solidFill>
                  <a:srgbClr val="475569"/>
                </a:solidFill>
              </a:rPr>
              <a:t> </a:t>
            </a:r>
            <a:r>
              <a:rPr lang="en-US" sz="950" dirty="0" err="1">
                <a:solidFill>
                  <a:srgbClr val="475569"/>
                </a:solidFill>
              </a:rPr>
              <a:t>primare</a:t>
            </a:r>
            <a:r>
              <a:rPr lang="en-US" sz="950" dirty="0">
                <a:solidFill>
                  <a:srgbClr val="475569"/>
                </a:solidFill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510528" y="2743200"/>
            <a:ext cx="3657600" cy="365760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01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412480" y="228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12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300" i="1" dirty="0">
                <a:solidFill>
                  <a:srgbClr val="94A3B8"/>
                </a:solidFill>
              </a:rPr>
              <a:t>Concluzii cheie pentru fiecare educator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8458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365760" y="1188720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502920" y="121615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24128" y="1252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is a tool, not a teacher — 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" y="1508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94A3B8"/>
                </a:solidFill>
              </a:rPr>
              <a:t>Inteligența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artificială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îți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amplifică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predarea</a:t>
            </a:r>
            <a:r>
              <a:rPr lang="en-US" sz="1050" dirty="0">
                <a:solidFill>
                  <a:srgbClr val="94A3B8"/>
                </a:solidFill>
              </a:rPr>
              <a:t> — nu </a:t>
            </a:r>
            <a:r>
              <a:rPr lang="en-US" sz="1050" dirty="0" err="1">
                <a:solidFill>
                  <a:srgbClr val="94A3B8"/>
                </a:solidFill>
              </a:rPr>
              <a:t>îți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înlocuiește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expertiza</a:t>
            </a:r>
            <a:r>
              <a:rPr lang="en-US" sz="1050" dirty="0">
                <a:solidFill>
                  <a:srgbClr val="94A3B8"/>
                </a:solidFill>
              </a:rPr>
              <a:t>, </a:t>
            </a:r>
            <a:r>
              <a:rPr lang="en-US" sz="1050" dirty="0" err="1">
                <a:solidFill>
                  <a:srgbClr val="94A3B8"/>
                </a:solidFill>
              </a:rPr>
              <a:t>relațiile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sau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judecata</a:t>
            </a:r>
            <a:r>
              <a:rPr lang="en-US" sz="1050" dirty="0">
                <a:solidFill>
                  <a:srgbClr val="94A3B8"/>
                </a:solidFill>
              </a:rPr>
              <a:t>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1938528"/>
            <a:ext cx="8458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365760" y="1938528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502920" y="19659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024128" y="2002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Prompting is a 21st century skill — 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24128" y="22585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MD" sz="1050" dirty="0">
                <a:solidFill>
                  <a:srgbClr val="94A3B8"/>
                </a:solidFill>
              </a:rPr>
              <a:t>Î</a:t>
            </a:r>
            <a:r>
              <a:rPr lang="en-US" sz="1050" dirty="0" err="1">
                <a:solidFill>
                  <a:srgbClr val="94A3B8"/>
                </a:solidFill>
              </a:rPr>
              <a:t>nvăța</a:t>
            </a:r>
            <a:r>
              <a:rPr lang="en-US" sz="1050" dirty="0">
                <a:solidFill>
                  <a:srgbClr val="94A3B8"/>
                </a:solidFill>
              </a:rPr>
              <a:t> pe </a:t>
            </a:r>
            <a:r>
              <a:rPr lang="en-US" sz="1050" dirty="0" err="1">
                <a:solidFill>
                  <a:srgbClr val="94A3B8"/>
                </a:solidFill>
              </a:rPr>
              <a:t>elevi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să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scrie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sugestii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eficiente</a:t>
            </a:r>
            <a:r>
              <a:rPr lang="en-US" sz="1050" dirty="0">
                <a:solidFill>
                  <a:srgbClr val="94A3B8"/>
                </a:solidFill>
              </a:rPr>
              <a:t> ÎNSEAMNĂ a </a:t>
            </a:r>
            <a:r>
              <a:rPr lang="en-US" sz="1050" dirty="0" err="1">
                <a:solidFill>
                  <a:srgbClr val="94A3B8"/>
                </a:solidFill>
              </a:rPr>
              <a:t>preda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gândire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critică</a:t>
            </a:r>
            <a:r>
              <a:rPr lang="en-US" sz="1050" dirty="0">
                <a:solidFill>
                  <a:srgbClr val="94A3B8"/>
                </a:solidFill>
              </a:rPr>
              <a:t>, </a:t>
            </a:r>
            <a:r>
              <a:rPr lang="en-US" sz="1050" dirty="0" err="1">
                <a:solidFill>
                  <a:srgbClr val="94A3B8"/>
                </a:solidFill>
              </a:rPr>
              <a:t>comunicare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și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logică</a:t>
            </a:r>
            <a:r>
              <a:rPr lang="en-US" sz="1050" dirty="0">
                <a:solidFill>
                  <a:srgbClr val="94A3B8"/>
                </a:solidFill>
              </a:rPr>
              <a:t>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2688336"/>
            <a:ext cx="8458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365760" y="2688336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502920" y="271576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024128" y="2752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small, iterate often — 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" y="30083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94A3B8"/>
                </a:solidFill>
              </a:rPr>
              <a:t>Alege</a:t>
            </a:r>
            <a:r>
              <a:rPr lang="en-US" sz="1050" dirty="0">
                <a:solidFill>
                  <a:srgbClr val="94A3B8"/>
                </a:solidFill>
              </a:rPr>
              <a:t> un instrument de </a:t>
            </a:r>
            <a:r>
              <a:rPr lang="en-US" sz="1050" dirty="0" err="1">
                <a:solidFill>
                  <a:srgbClr val="94A3B8"/>
                </a:solidFill>
              </a:rPr>
              <a:t>inteligență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artificială</a:t>
            </a:r>
            <a:r>
              <a:rPr lang="en-US" sz="1050" dirty="0">
                <a:solidFill>
                  <a:srgbClr val="94A3B8"/>
                </a:solidFill>
              </a:rPr>
              <a:t>, </a:t>
            </a:r>
            <a:r>
              <a:rPr lang="en-US" sz="1050" dirty="0" err="1">
                <a:solidFill>
                  <a:srgbClr val="94A3B8"/>
                </a:solidFill>
              </a:rPr>
              <a:t>folosește</a:t>
            </a:r>
            <a:r>
              <a:rPr lang="en-US" sz="1050" dirty="0">
                <a:solidFill>
                  <a:srgbClr val="94A3B8"/>
                </a:solidFill>
              </a:rPr>
              <a:t>-l </a:t>
            </a:r>
            <a:r>
              <a:rPr lang="en-US" sz="1050" dirty="0" err="1">
                <a:solidFill>
                  <a:srgbClr val="94A3B8"/>
                </a:solidFill>
              </a:rPr>
              <a:t>pentru</a:t>
            </a:r>
            <a:r>
              <a:rPr lang="en-US" sz="1050" dirty="0">
                <a:solidFill>
                  <a:srgbClr val="94A3B8"/>
                </a:solidFill>
              </a:rPr>
              <a:t> un </a:t>
            </a:r>
            <a:r>
              <a:rPr lang="en-US" sz="1050" dirty="0" err="1">
                <a:solidFill>
                  <a:srgbClr val="94A3B8"/>
                </a:solidFill>
              </a:rPr>
              <a:t>anumit</a:t>
            </a:r>
            <a:r>
              <a:rPr lang="en-US" sz="1050" dirty="0">
                <a:solidFill>
                  <a:srgbClr val="94A3B8"/>
                </a:solidFill>
              </a:rPr>
              <a:t> tip de </a:t>
            </a:r>
            <a:r>
              <a:rPr lang="en-US" sz="1050" dirty="0" err="1">
                <a:solidFill>
                  <a:srgbClr val="94A3B8"/>
                </a:solidFill>
              </a:rPr>
              <a:t>lecție</a:t>
            </a:r>
            <a:r>
              <a:rPr lang="en-US" sz="1050" dirty="0">
                <a:solidFill>
                  <a:srgbClr val="94A3B8"/>
                </a:solidFill>
              </a:rPr>
              <a:t>, </a:t>
            </a:r>
            <a:r>
              <a:rPr lang="en-US" sz="1050" dirty="0" err="1">
                <a:solidFill>
                  <a:srgbClr val="94A3B8"/>
                </a:solidFill>
              </a:rPr>
              <a:t>apoi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extinde</a:t>
            </a:r>
            <a:r>
              <a:rPr lang="en-US" sz="1050" dirty="0">
                <a:solidFill>
                  <a:srgbClr val="94A3B8"/>
                </a:solidFill>
              </a:rPr>
              <a:t>-l. Nu </a:t>
            </a:r>
            <a:r>
              <a:rPr lang="en-US" sz="1050" dirty="0" err="1">
                <a:solidFill>
                  <a:srgbClr val="94A3B8"/>
                </a:solidFill>
              </a:rPr>
              <a:t>încerca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să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schimbi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totul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deodată</a:t>
            </a:r>
            <a:r>
              <a:rPr lang="en-US" sz="1050" dirty="0">
                <a:solidFill>
                  <a:srgbClr val="94A3B8"/>
                </a:solidFill>
              </a:rPr>
              <a:t>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65760" y="3438144"/>
            <a:ext cx="8458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365760" y="3438144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/>
          <p:nvPr/>
        </p:nvSpPr>
        <p:spPr>
          <a:xfrm>
            <a:off x="502920" y="34655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024128" y="3502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Ethics must be taught explicitly — 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24128" y="37581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94A3B8"/>
                </a:solidFill>
              </a:rPr>
              <a:t>Studenții</a:t>
            </a:r>
            <a:r>
              <a:rPr lang="en-US" sz="1050" dirty="0">
                <a:solidFill>
                  <a:srgbClr val="94A3B8"/>
                </a:solidFill>
              </a:rPr>
              <a:t> nu </a:t>
            </a:r>
            <a:r>
              <a:rPr lang="en-US" sz="1050" dirty="0" err="1">
                <a:solidFill>
                  <a:srgbClr val="94A3B8"/>
                </a:solidFill>
              </a:rPr>
              <a:t>vor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învăța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etica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inteligenței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artificiale</a:t>
            </a:r>
            <a:r>
              <a:rPr lang="en-US" sz="1050" dirty="0">
                <a:solidFill>
                  <a:srgbClr val="94A3B8"/>
                </a:solidFill>
              </a:rPr>
              <a:t> din </a:t>
            </a:r>
            <a:r>
              <a:rPr lang="en-US" sz="1050" dirty="0" err="1">
                <a:solidFill>
                  <a:srgbClr val="94A3B8"/>
                </a:solidFill>
              </a:rPr>
              <a:t>întâmplare</a:t>
            </a:r>
            <a:r>
              <a:rPr lang="en-US" sz="1050" dirty="0">
                <a:solidFill>
                  <a:srgbClr val="94A3B8"/>
                </a:solidFill>
              </a:rPr>
              <a:t>. </a:t>
            </a:r>
            <a:r>
              <a:rPr lang="en-US" sz="1050" dirty="0" err="1">
                <a:solidFill>
                  <a:srgbClr val="94A3B8"/>
                </a:solidFill>
              </a:rPr>
              <a:t>Dați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modele</a:t>
            </a:r>
            <a:r>
              <a:rPr lang="en-US" sz="1050" dirty="0">
                <a:solidFill>
                  <a:srgbClr val="94A3B8"/>
                </a:solidFill>
              </a:rPr>
              <a:t> de </a:t>
            </a:r>
            <a:r>
              <a:rPr lang="en-US" sz="1050" dirty="0" err="1">
                <a:solidFill>
                  <a:srgbClr val="94A3B8"/>
                </a:solidFill>
              </a:rPr>
              <a:t>utilizare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critică</a:t>
            </a:r>
            <a:r>
              <a:rPr lang="en-US" sz="1050" dirty="0">
                <a:solidFill>
                  <a:srgbClr val="94A3B8"/>
                </a:solidFill>
              </a:rPr>
              <a:t> a </a:t>
            </a:r>
            <a:r>
              <a:rPr lang="en-US" sz="1050" dirty="0" err="1">
                <a:solidFill>
                  <a:srgbClr val="94A3B8"/>
                </a:solidFill>
              </a:rPr>
              <a:t>inteligenței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artificiale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și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discutați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deschis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despre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asta</a:t>
            </a:r>
            <a:r>
              <a:rPr lang="en-US" sz="1050" dirty="0">
                <a:solidFill>
                  <a:srgbClr val="94A3B8"/>
                </a:solidFill>
              </a:rPr>
              <a:t>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5760" y="4187952"/>
            <a:ext cx="8458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365760" y="4187952"/>
            <a:ext cx="54864" cy="6583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502920" y="421538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Protect curiosity and struggle — 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024128" y="45079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Cel </a:t>
            </a:r>
            <a:r>
              <a:rPr lang="en-US" sz="1050" dirty="0" err="1">
                <a:solidFill>
                  <a:srgbClr val="94A3B8"/>
                </a:solidFill>
              </a:rPr>
              <a:t>mai</a:t>
            </a:r>
            <a:r>
              <a:rPr lang="en-US" sz="1050" dirty="0">
                <a:solidFill>
                  <a:srgbClr val="94A3B8"/>
                </a:solidFill>
              </a:rPr>
              <a:t> mare </a:t>
            </a:r>
            <a:r>
              <a:rPr lang="en-US" sz="1050" dirty="0" err="1">
                <a:solidFill>
                  <a:srgbClr val="94A3B8"/>
                </a:solidFill>
              </a:rPr>
              <a:t>dar</a:t>
            </a:r>
            <a:r>
              <a:rPr lang="en-US" sz="1050" dirty="0">
                <a:solidFill>
                  <a:srgbClr val="94A3B8"/>
                </a:solidFill>
              </a:rPr>
              <a:t> pe care </a:t>
            </a:r>
            <a:r>
              <a:rPr lang="en-US" sz="1050" dirty="0" err="1">
                <a:solidFill>
                  <a:srgbClr val="94A3B8"/>
                </a:solidFill>
              </a:rPr>
              <a:t>îl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poți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oferi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elevilor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este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curajul</a:t>
            </a:r>
            <a:r>
              <a:rPr lang="en-US" sz="1050" dirty="0">
                <a:solidFill>
                  <a:srgbClr val="94A3B8"/>
                </a:solidFill>
              </a:rPr>
              <a:t> de a </a:t>
            </a:r>
            <a:r>
              <a:rPr lang="en-US" sz="1050" dirty="0" err="1">
                <a:solidFill>
                  <a:srgbClr val="94A3B8"/>
                </a:solidFill>
              </a:rPr>
              <a:t>gândi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fără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inteligență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artificială</a:t>
            </a:r>
            <a:r>
              <a:rPr lang="en-US" sz="1050" dirty="0">
                <a:solidFill>
                  <a:srgbClr val="94A3B8"/>
                </a:solidFill>
              </a:rPr>
              <a:t> — </a:t>
            </a:r>
            <a:r>
              <a:rPr lang="en-US" sz="1050" dirty="0" err="1">
                <a:solidFill>
                  <a:srgbClr val="94A3B8"/>
                </a:solidFill>
              </a:rPr>
              <a:t>și</a:t>
            </a:r>
            <a:r>
              <a:rPr lang="en-US" sz="1050" dirty="0">
                <a:solidFill>
                  <a:srgbClr val="94A3B8"/>
                </a:solidFill>
              </a:rPr>
              <a:t> de a </a:t>
            </a:r>
            <a:r>
              <a:rPr lang="en-US" sz="1050" dirty="0" err="1">
                <a:solidFill>
                  <a:srgbClr val="94A3B8"/>
                </a:solidFill>
              </a:rPr>
              <a:t>prețui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acest</a:t>
            </a:r>
            <a:r>
              <a:rPr lang="en-US" sz="1050" dirty="0">
                <a:solidFill>
                  <a:srgbClr val="94A3B8"/>
                </a:solidFill>
              </a:rPr>
              <a:t> </a:t>
            </a:r>
            <a:r>
              <a:rPr lang="en-US" sz="1050" dirty="0" err="1">
                <a:solidFill>
                  <a:srgbClr val="94A3B8"/>
                </a:solidFill>
              </a:rPr>
              <a:t>proces</a:t>
            </a:r>
            <a:r>
              <a:rPr lang="en-US" sz="1050" dirty="0">
                <a:solidFill>
                  <a:srgbClr val="94A3B8"/>
                </a:solidFill>
              </a:rPr>
              <a:t>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65760" y="4736592"/>
            <a:ext cx="8458200" cy="2743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2"/>
          <p:cNvSpPr/>
          <p:nvPr/>
        </p:nvSpPr>
        <p:spPr>
          <a:xfrm>
            <a:off x="365760" y="4754880"/>
            <a:ext cx="845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</a:t>
            </a:r>
            <a:r>
              <a:rPr lang="en-US" sz="1100" b="1" dirty="0" err="1">
                <a:solidFill>
                  <a:srgbClr val="FFFFFF"/>
                </a:solidFill>
              </a:rPr>
              <a:t>Viitorul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educației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este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ro-MD" sz="1100" b="1" dirty="0">
                <a:solidFill>
                  <a:srgbClr val="FFFFFF"/>
                </a:solidFill>
              </a:rPr>
              <a:t>uman</a:t>
            </a:r>
            <a:r>
              <a:rPr lang="en-US" sz="1100" b="1" dirty="0">
                <a:solidFill>
                  <a:srgbClr val="FFFFFF"/>
                </a:solidFill>
              </a:rPr>
              <a:t> + </a:t>
            </a:r>
            <a:r>
              <a:rPr lang="en-US" sz="1100" b="1" dirty="0" err="1">
                <a:solidFill>
                  <a:srgbClr val="FFFFFF"/>
                </a:solidFill>
              </a:rPr>
              <a:t>inteligența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artificială</a:t>
            </a:r>
            <a:r>
              <a:rPr lang="en-US" sz="1100" b="1" dirty="0">
                <a:solidFill>
                  <a:srgbClr val="FFFFFF"/>
                </a:solidFill>
              </a:rPr>
              <a:t>. </a:t>
            </a:r>
            <a:r>
              <a:rPr lang="en-US" sz="1100" b="1" dirty="0" err="1">
                <a:solidFill>
                  <a:srgbClr val="FFFFFF"/>
                </a:solidFill>
              </a:rPr>
              <a:t>Fii</a:t>
            </a:r>
            <a:r>
              <a:rPr lang="en-US" sz="1100" b="1" dirty="0">
                <a:solidFill>
                  <a:srgbClr val="FFFFFF"/>
                </a:solidFill>
              </a:rPr>
              <a:t> </a:t>
            </a:r>
            <a:r>
              <a:rPr lang="en-US" sz="1100" b="1" dirty="0" err="1">
                <a:solidFill>
                  <a:srgbClr val="FFFFFF"/>
                </a:solidFill>
              </a:rPr>
              <a:t>profesorul</a:t>
            </a:r>
            <a:r>
              <a:rPr lang="en-US" sz="1100" b="1" dirty="0">
                <a:solidFill>
                  <a:srgbClr val="FFFFFF"/>
                </a:solidFill>
              </a:rPr>
              <a:t> care le </a:t>
            </a:r>
            <a:r>
              <a:rPr lang="en-US" sz="1100" b="1" dirty="0" err="1">
                <a:solidFill>
                  <a:srgbClr val="FFFFFF"/>
                </a:solidFill>
              </a:rPr>
              <a:t>ghidează</a:t>
            </a:r>
            <a:r>
              <a:rPr lang="en-US" sz="1100" b="1" dirty="0">
                <a:solidFill>
                  <a:srgbClr val="FFFFFF"/>
                </a:solidFill>
              </a:rPr>
              <a:t> pe </a:t>
            </a:r>
            <a:r>
              <a:rPr lang="en-US" sz="1100" b="1" dirty="0" err="1">
                <a:solidFill>
                  <a:srgbClr val="FFFFFF"/>
                </a:solidFill>
              </a:rPr>
              <a:t>amândouă</a:t>
            </a:r>
            <a:r>
              <a:rPr lang="en-US" sz="1100" b="1" dirty="0">
                <a:solidFill>
                  <a:srgbClr val="FFFFFF"/>
                </a:solidFill>
              </a:rPr>
              <a:t>..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1591</Words>
  <Application>Microsoft Office PowerPoint</Application>
  <PresentationFormat>Экран (16:9)</PresentationFormat>
  <Paragraphs>251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Teachers</dc:title>
  <dc:subject>PptxGenJS Presentation</dc:subject>
  <dc:creator>Education AI Workshop</dc:creator>
  <cp:lastModifiedBy>admin</cp:lastModifiedBy>
  <cp:revision>9</cp:revision>
  <dcterms:created xsi:type="dcterms:W3CDTF">2026-04-28T15:12:34Z</dcterms:created>
  <dcterms:modified xsi:type="dcterms:W3CDTF">2026-04-30T14:51:23Z</dcterms:modified>
</cp:coreProperties>
</file>